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76" r:id="rId3"/>
    <p:sldId id="277" r:id="rId4"/>
    <p:sldId id="278" r:id="rId5"/>
    <p:sldId id="259" r:id="rId6"/>
    <p:sldId id="261" r:id="rId7"/>
    <p:sldId id="262" r:id="rId8"/>
    <p:sldId id="269" r:id="rId9"/>
    <p:sldId id="263" r:id="rId10"/>
    <p:sldId id="264" r:id="rId11"/>
    <p:sldId id="275" r:id="rId12"/>
    <p:sldId id="270" r:id="rId13"/>
    <p:sldId id="265" r:id="rId14"/>
    <p:sldId id="266" r:id="rId15"/>
    <p:sldId id="267" r:id="rId16"/>
    <p:sldId id="271"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14900"/>
    <a:srgbClr val="5E1402"/>
    <a:srgbClr val="050061"/>
    <a:srgbClr val="5E0061"/>
    <a:srgbClr val="54006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3A807A-4702-4E14-B9B2-1F5E2E6298BF}" v="2" dt="2025-12-01T16:22:11.329"/>
    <p1510:client id="{B29BCA37-7314-4AEA-8411-7DCCD63352D1}" v="383" dt="2025-11-30T16:57:48.2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4496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647F38-B617-4D2F-AE0A-013F0C4D2C57}" type="datetimeFigureOut">
              <a:rPr lang="en-US" dirty="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extLst>
      <p:ext uri="{BB962C8B-B14F-4D97-AF65-F5344CB8AC3E}">
        <p14:creationId xmlns:p14="http://schemas.microsoft.com/office/powerpoint/2010/main" val="14056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dirty="0"/>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79863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5BFA754-D5C3-4E66-96A6-867B257F58DC}" type="datetimeFigureOut">
              <a:rPr lang="en-US" dirty="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extLst>
      <p:ext uri="{BB962C8B-B14F-4D97-AF65-F5344CB8AC3E}">
        <p14:creationId xmlns:p14="http://schemas.microsoft.com/office/powerpoint/2010/main" val="516950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802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6328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22961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2071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dirty="0"/>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46856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12867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6029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33919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00247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568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765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073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6411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12/1/2025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50360214"/>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DF8837B-BAE2-489A-8F93-69216307D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is may contain: there is a sign that says reason to love pizza on the side of this wall">
            <a:extLst>
              <a:ext uri="{FF2B5EF4-FFF2-40B4-BE49-F238E27FC236}">
                <a16:creationId xmlns:a16="http://schemas.microsoft.com/office/drawing/2014/main" id="{2DECD362-1C36-E916-541C-D1B80E2FBB33}"/>
              </a:ext>
            </a:extLst>
          </p:cNvPr>
          <p:cNvPicPr>
            <a:picLocks noChangeAspect="1"/>
          </p:cNvPicPr>
          <p:nvPr/>
        </p:nvPicPr>
        <p:blipFill>
          <a:blip r:embed="rId2">
            <a:alphaModFix amt="50000"/>
          </a:blip>
          <a:srcRect t="34069" b="2374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36B9C6C-669A-663A-679F-829FDD2FDF1A}"/>
              </a:ext>
            </a:extLst>
          </p:cNvPr>
          <p:cNvSpPr>
            <a:spLocks noGrp="1"/>
          </p:cNvSpPr>
          <p:nvPr>
            <p:ph type="ctrTitle"/>
          </p:nvPr>
        </p:nvSpPr>
        <p:spPr>
          <a:xfrm>
            <a:off x="2692398" y="1386222"/>
            <a:ext cx="6815669" cy="2042005"/>
          </a:xfrm>
        </p:spPr>
        <p:txBody>
          <a:bodyPr>
            <a:normAutofit/>
          </a:bodyPr>
          <a:lstStyle/>
          <a:p>
            <a:pPr>
              <a:lnSpc>
                <a:spcPct val="90000"/>
              </a:lnSpc>
            </a:pPr>
            <a:r>
              <a:rPr lang="en-US" sz="5000" b="1" dirty="0">
                <a:solidFill>
                  <a:schemeClr val="accent4">
                    <a:lumMod val="40000"/>
                    <a:lumOff val="60000"/>
                  </a:schemeClr>
                </a:solidFill>
                <a:latin typeface="Comic Sans MS"/>
              </a:rPr>
              <a:t>PIZZA HUT SALES ANALYSIS</a:t>
            </a:r>
          </a:p>
        </p:txBody>
      </p:sp>
      <p:sp>
        <p:nvSpPr>
          <p:cNvPr id="3" name="Subtitle 2">
            <a:extLst>
              <a:ext uri="{FF2B5EF4-FFF2-40B4-BE49-F238E27FC236}">
                <a16:creationId xmlns:a16="http://schemas.microsoft.com/office/drawing/2014/main" id="{22BFCC18-2B96-F2C7-B1DC-D1630BB71DC8}"/>
              </a:ext>
            </a:extLst>
          </p:cNvPr>
          <p:cNvSpPr>
            <a:spLocks noGrp="1"/>
          </p:cNvSpPr>
          <p:nvPr>
            <p:ph type="subTitle" idx="1"/>
          </p:nvPr>
        </p:nvSpPr>
        <p:spPr>
          <a:xfrm>
            <a:off x="2692398" y="3657597"/>
            <a:ext cx="6815669" cy="1320802"/>
          </a:xfrm>
        </p:spPr>
        <p:txBody>
          <a:bodyPr>
            <a:normAutofit/>
          </a:bodyPr>
          <a:lstStyle/>
          <a:p>
            <a:r>
              <a:rPr lang="en-US" dirty="0">
                <a:solidFill>
                  <a:srgbClr val="FFFFFF"/>
                </a:solidFill>
              </a:rPr>
              <a:t>    </a:t>
            </a:r>
            <a:r>
              <a:rPr lang="en-US" dirty="0">
                <a:solidFill>
                  <a:schemeClr val="accent4">
                    <a:lumMod val="40000"/>
                    <a:lumOff val="60000"/>
                  </a:schemeClr>
                </a:solidFill>
              </a:rPr>
              <a:t>By Harshini </a:t>
            </a:r>
            <a:r>
              <a:rPr lang="en-US" err="1">
                <a:solidFill>
                  <a:schemeClr val="accent4">
                    <a:lumMod val="40000"/>
                    <a:lumOff val="60000"/>
                  </a:schemeClr>
                </a:solidFill>
              </a:rPr>
              <a:t>Pulagala</a:t>
            </a:r>
            <a:endParaRPr lang="en-US">
              <a:solidFill>
                <a:schemeClr val="accent4">
                  <a:lumMod val="40000"/>
                  <a:lumOff val="60000"/>
                </a:schemeClr>
              </a:solidFill>
            </a:endParaRPr>
          </a:p>
        </p:txBody>
      </p:sp>
      <p:cxnSp>
        <p:nvCxnSpPr>
          <p:cNvPr id="25" name="Straight Connector 24">
            <a:extLst>
              <a:ext uri="{FF2B5EF4-FFF2-40B4-BE49-F238E27FC236}">
                <a16:creationId xmlns:a16="http://schemas.microsoft.com/office/drawing/2014/main" id="{B48BEE9B-A2F4-4BF3-9EAD-16E1A7FC2D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99932" y="3510608"/>
            <a:ext cx="5120640" cy="0"/>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18493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This may contain: a neon sign that is on the side of a building with a slice of pizza in it">
            <a:extLst>
              <a:ext uri="{FF2B5EF4-FFF2-40B4-BE49-F238E27FC236}">
                <a16:creationId xmlns:a16="http://schemas.microsoft.com/office/drawing/2014/main" id="{4185E2A6-5FFB-8008-FC78-D590B6C3ABFD}"/>
              </a:ext>
            </a:extLst>
          </p:cNvPr>
          <p:cNvPicPr>
            <a:picLocks noChangeAspect="1"/>
          </p:cNvPicPr>
          <p:nvPr/>
        </p:nvPicPr>
        <p:blipFill>
          <a:blip r:embed="rId2">
            <a:alphaModFix amt="35000"/>
          </a:blip>
          <a:srcRect t="14183" r="1" b="5417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B7FDB9C-0F62-511F-5AC2-C34E6D18D860}"/>
              </a:ext>
            </a:extLst>
          </p:cNvPr>
          <p:cNvSpPr>
            <a:spLocks noGrp="1"/>
          </p:cNvSpPr>
          <p:nvPr>
            <p:ph type="title"/>
          </p:nvPr>
        </p:nvSpPr>
        <p:spPr>
          <a:xfrm>
            <a:off x="90056" y="1189951"/>
            <a:ext cx="5915888" cy="1303867"/>
          </a:xfrm>
        </p:spPr>
        <p:txBody>
          <a:bodyPr>
            <a:normAutofit/>
          </a:bodyPr>
          <a:lstStyle/>
          <a:p>
            <a:r>
              <a:rPr lang="en-US" dirty="0">
                <a:solidFill>
                  <a:schemeClr val="accent4">
                    <a:lumMod val="40000"/>
                    <a:lumOff val="60000"/>
                  </a:schemeClr>
                </a:solidFill>
              </a:rPr>
              <a:t>CONTEXT</a:t>
            </a:r>
          </a:p>
        </p:txBody>
      </p:sp>
      <p:cxnSp>
        <p:nvCxnSpPr>
          <p:cNvPr id="13" name="Straight Connector 12">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Content Placeholder 7">
            <a:extLst>
              <a:ext uri="{FF2B5EF4-FFF2-40B4-BE49-F238E27FC236}">
                <a16:creationId xmlns:a16="http://schemas.microsoft.com/office/drawing/2014/main" id="{5DA2EA29-9068-A9F4-7447-A888AC36A4FE}"/>
              </a:ext>
            </a:extLst>
          </p:cNvPr>
          <p:cNvSpPr>
            <a:spLocks noGrp="1"/>
          </p:cNvSpPr>
          <p:nvPr>
            <p:ph idx="1"/>
          </p:nvPr>
        </p:nvSpPr>
        <p:spPr>
          <a:xfrm>
            <a:off x="547256" y="2487660"/>
            <a:ext cx="10349341" cy="4136353"/>
          </a:xfrm>
        </p:spPr>
        <p:txBody>
          <a:bodyPr>
            <a:normAutofit lnSpcReduction="10000"/>
          </a:bodyPr>
          <a:lstStyle/>
          <a:p>
            <a:r>
              <a:rPr lang="en-US" dirty="0">
                <a:solidFill>
                  <a:schemeClr val="accent4">
                    <a:lumMod val="60000"/>
                    <a:lumOff val="40000"/>
                  </a:schemeClr>
                </a:solidFill>
              </a:rPr>
              <a:t>About Pizza Hut</a:t>
            </a:r>
          </a:p>
          <a:p>
            <a:pPr>
              <a:buSzPct val="114999"/>
            </a:pPr>
            <a:r>
              <a:rPr lang="en-US" dirty="0">
                <a:solidFill>
                  <a:schemeClr val="accent4">
                    <a:lumMod val="60000"/>
                    <a:lumOff val="40000"/>
                  </a:schemeClr>
                </a:solidFill>
              </a:rPr>
              <a:t>Objective</a:t>
            </a:r>
          </a:p>
          <a:p>
            <a:pPr>
              <a:buSzPct val="114999"/>
            </a:pPr>
            <a:r>
              <a:rPr lang="en-US" dirty="0">
                <a:solidFill>
                  <a:schemeClr val="accent4">
                    <a:lumMod val="60000"/>
                    <a:lumOff val="40000"/>
                  </a:schemeClr>
                </a:solidFill>
              </a:rPr>
              <a:t>Business Context</a:t>
            </a:r>
          </a:p>
          <a:p>
            <a:pPr>
              <a:buSzPct val="114999"/>
            </a:pPr>
            <a:r>
              <a:rPr lang="en-US" dirty="0">
                <a:solidFill>
                  <a:schemeClr val="accent4">
                    <a:lumMod val="60000"/>
                    <a:lumOff val="40000"/>
                  </a:schemeClr>
                </a:solidFill>
              </a:rPr>
              <a:t>Basic Analysis and Insights</a:t>
            </a:r>
          </a:p>
          <a:p>
            <a:pPr>
              <a:buSzPct val="114999"/>
            </a:pPr>
            <a:r>
              <a:rPr lang="en-US" dirty="0">
                <a:solidFill>
                  <a:schemeClr val="accent4">
                    <a:lumMod val="60000"/>
                    <a:lumOff val="40000"/>
                  </a:schemeClr>
                </a:solidFill>
              </a:rPr>
              <a:t>Intermediate Analysis and Insights</a:t>
            </a:r>
          </a:p>
          <a:p>
            <a:pPr>
              <a:buSzPct val="114999"/>
            </a:pPr>
            <a:r>
              <a:rPr lang="en-US" dirty="0">
                <a:solidFill>
                  <a:schemeClr val="accent4">
                    <a:lumMod val="60000"/>
                    <a:lumOff val="40000"/>
                  </a:schemeClr>
                </a:solidFill>
              </a:rPr>
              <a:t>Advanced Analysis</a:t>
            </a:r>
          </a:p>
          <a:p>
            <a:pPr>
              <a:buSzPct val="114999"/>
            </a:pPr>
            <a:r>
              <a:rPr lang="en-US" dirty="0">
                <a:solidFill>
                  <a:schemeClr val="accent4">
                    <a:lumMod val="60000"/>
                    <a:lumOff val="40000"/>
                  </a:schemeClr>
                </a:solidFill>
              </a:rPr>
              <a:t>Recommendations</a:t>
            </a:r>
          </a:p>
          <a:p>
            <a:pPr>
              <a:buSzPct val="114999"/>
            </a:pPr>
            <a:r>
              <a:rPr lang="en-US" dirty="0">
                <a:solidFill>
                  <a:schemeClr val="accent4">
                    <a:lumMod val="60000"/>
                    <a:lumOff val="40000"/>
                  </a:schemeClr>
                </a:solidFill>
              </a:rPr>
              <a:t>Conclusion</a:t>
            </a:r>
          </a:p>
          <a:p>
            <a:pPr>
              <a:buSzPct val="114999"/>
            </a:pPr>
            <a:endParaRPr lang="en-US" dirty="0">
              <a:solidFill>
                <a:srgbClr val="FFFFFF"/>
              </a:solidFill>
            </a:endParaRPr>
          </a:p>
        </p:txBody>
      </p:sp>
    </p:spTree>
    <p:extLst>
      <p:ext uri="{BB962C8B-B14F-4D97-AF65-F5344CB8AC3E}">
        <p14:creationId xmlns:p14="http://schemas.microsoft.com/office/powerpoint/2010/main" val="291392004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Story pin image">
            <a:extLst>
              <a:ext uri="{FF2B5EF4-FFF2-40B4-BE49-F238E27FC236}">
                <a16:creationId xmlns:a16="http://schemas.microsoft.com/office/drawing/2014/main" id="{7B40130A-794A-1A03-F135-F2255E0B3712}"/>
              </a:ext>
            </a:extLst>
          </p:cNvPr>
          <p:cNvPicPr>
            <a:picLocks noChangeAspect="1"/>
          </p:cNvPicPr>
          <p:nvPr/>
        </p:nvPicPr>
        <p:blipFill>
          <a:blip r:embed="rId2">
            <a:alphaModFix amt="35000"/>
          </a:blip>
          <a:srcRect t="11565" b="462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13A6B88-C717-745A-7C7F-A4AC18334B10}"/>
              </a:ext>
            </a:extLst>
          </p:cNvPr>
          <p:cNvSpPr>
            <a:spLocks noGrp="1"/>
          </p:cNvSpPr>
          <p:nvPr>
            <p:ph type="title"/>
          </p:nvPr>
        </p:nvSpPr>
        <p:spPr>
          <a:xfrm>
            <a:off x="779932" y="388220"/>
            <a:ext cx="7348812" cy="945279"/>
          </a:xfrm>
        </p:spPr>
        <p:txBody>
          <a:bodyPr>
            <a:normAutofit/>
          </a:bodyPr>
          <a:lstStyle/>
          <a:p>
            <a:r>
              <a:rPr lang="en-US" dirty="0">
                <a:solidFill>
                  <a:srgbClr val="FFFFFF"/>
                </a:solidFill>
              </a:rPr>
              <a:t>About Pizza Hut</a:t>
            </a:r>
          </a:p>
        </p:txBody>
      </p:sp>
      <p:cxnSp>
        <p:nvCxnSpPr>
          <p:cNvPr id="13" name="Straight Connector 12">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Content Placeholder 7">
            <a:extLst>
              <a:ext uri="{FF2B5EF4-FFF2-40B4-BE49-F238E27FC236}">
                <a16:creationId xmlns:a16="http://schemas.microsoft.com/office/drawing/2014/main" id="{08AA676B-787E-6F76-FBA4-F91F8EDC2224}"/>
              </a:ext>
            </a:extLst>
          </p:cNvPr>
          <p:cNvSpPr>
            <a:spLocks noGrp="1"/>
          </p:cNvSpPr>
          <p:nvPr>
            <p:ph idx="1"/>
          </p:nvPr>
        </p:nvSpPr>
        <p:spPr>
          <a:xfrm>
            <a:off x="645460" y="2422464"/>
            <a:ext cx="7483284" cy="3778376"/>
          </a:xfrm>
        </p:spPr>
        <p:txBody>
          <a:bodyPr vert="horz" lIns="91440" tIns="45720" rIns="91440" bIns="45720" rtlCol="0" anchor="t">
            <a:noAutofit/>
          </a:bodyPr>
          <a:lstStyle/>
          <a:p>
            <a:pPr algn="just"/>
            <a:r>
              <a:rPr lang="en-US" dirty="0">
                <a:solidFill>
                  <a:schemeClr val="accent4">
                    <a:lumMod val="20000"/>
                    <a:lumOff val="80000"/>
                  </a:schemeClr>
                </a:solidFill>
                <a:latin typeface="Times New Roman"/>
                <a:cs typeface="Times New Roman"/>
              </a:rPr>
              <a:t>Pizza Hut is a globally recognized American restaurant chain known for its delicious pizzas and wide variety of Italian-American dishes. Founded in 1958 in Wichita, Kansas, by Dan and Frank Carney,</a:t>
            </a:r>
          </a:p>
          <a:p>
            <a:pPr algn="just">
              <a:buSzPct val="114999"/>
            </a:pPr>
            <a:r>
              <a:rPr lang="en-US" dirty="0">
                <a:solidFill>
                  <a:schemeClr val="accent4">
                    <a:lumMod val="20000"/>
                    <a:lumOff val="80000"/>
                  </a:schemeClr>
                </a:solidFill>
                <a:latin typeface="Times New Roman"/>
                <a:cs typeface="Times New Roman"/>
              </a:rPr>
              <a:t> The brand is famous for its signature pan pizzas, pasta, sides and desserts, served in a friendly and casual dining atmosphere.</a:t>
            </a:r>
          </a:p>
          <a:p>
            <a:pPr algn="just">
              <a:buSzPct val="114999"/>
            </a:pPr>
            <a:r>
              <a:rPr lang="en-US" dirty="0">
                <a:solidFill>
                  <a:schemeClr val="accent4">
                    <a:lumMod val="20000"/>
                    <a:lumOff val="80000"/>
                  </a:schemeClr>
                </a:solidFill>
                <a:latin typeface="Times New Roman"/>
                <a:cs typeface="Times New Roman"/>
              </a:rPr>
              <a:t>With its focus on innovation, quality ingredients and customer satisfaction, Pizza Hut continues to be a favorite destination for pizza lovers worldwide</a:t>
            </a:r>
            <a:r>
              <a:rPr lang="en-US" dirty="0">
                <a:solidFill>
                  <a:schemeClr val="tx1"/>
                </a:solidFill>
                <a:latin typeface="Times New Roman"/>
                <a:cs typeface="Times New Roman"/>
              </a:rPr>
              <a:t>.</a:t>
            </a:r>
            <a:endParaRPr lang="en-US">
              <a:solidFill>
                <a:schemeClr val="tx1"/>
              </a:solidFill>
              <a:latin typeface="Times New Roman"/>
              <a:cs typeface="Times New Roman"/>
            </a:endParaRPr>
          </a:p>
          <a:p>
            <a:pPr>
              <a:buSzPct val="114999"/>
            </a:pPr>
            <a:endParaRPr lang="en-US" dirty="0">
              <a:solidFill>
                <a:srgbClr val="FFFFFF"/>
              </a:solidFill>
            </a:endParaRPr>
          </a:p>
        </p:txBody>
      </p:sp>
      <p:pic>
        <p:nvPicPr>
          <p:cNvPr id="6" name="Picture 5" descr="Men in suits standing in front of a sign&#10;&#10;AI-generated content may be incorrect.">
            <a:extLst>
              <a:ext uri="{FF2B5EF4-FFF2-40B4-BE49-F238E27FC236}">
                <a16:creationId xmlns:a16="http://schemas.microsoft.com/office/drawing/2014/main" id="{CFF02762-F20F-2ECE-AA5D-50C015543565}"/>
              </a:ext>
            </a:extLst>
          </p:cNvPr>
          <p:cNvPicPr>
            <a:picLocks noChangeAspect="1"/>
          </p:cNvPicPr>
          <p:nvPr/>
        </p:nvPicPr>
        <p:blipFill>
          <a:blip r:embed="rId3"/>
          <a:stretch>
            <a:fillRect/>
          </a:stretch>
        </p:blipFill>
        <p:spPr>
          <a:xfrm>
            <a:off x="8333116" y="1875767"/>
            <a:ext cx="3686736" cy="4314265"/>
          </a:xfrm>
          <a:prstGeom prst="rect">
            <a:avLst/>
          </a:prstGeom>
          <a:ln>
            <a:noFill/>
          </a:ln>
          <a:effectLst>
            <a:softEdge rad="112500"/>
          </a:effectLst>
        </p:spPr>
      </p:pic>
    </p:spTree>
    <p:extLst>
      <p:ext uri="{BB962C8B-B14F-4D97-AF65-F5344CB8AC3E}">
        <p14:creationId xmlns:p14="http://schemas.microsoft.com/office/powerpoint/2010/main" val="2729741212"/>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rown rectangle with white dots&#10;&#10;AI-generated content may be incorrect.">
            <a:extLst>
              <a:ext uri="{FF2B5EF4-FFF2-40B4-BE49-F238E27FC236}">
                <a16:creationId xmlns:a16="http://schemas.microsoft.com/office/drawing/2014/main" id="{872ACEB8-CC9B-B457-0BE1-097A718B0BD7}"/>
              </a:ext>
            </a:extLst>
          </p:cNvPr>
          <p:cNvPicPr>
            <a:picLocks noChangeAspect="1"/>
          </p:cNvPicPr>
          <p:nvPr/>
        </p:nvPicPr>
        <p:blipFill>
          <a:blip r:embed="rId2">
            <a:alphaModFix amt="35000"/>
          </a:blip>
          <a:srcRect t="28781" b="29031"/>
          <a:stretch>
            <a:fillRect/>
          </a:stretch>
        </p:blipFill>
        <p:spPr>
          <a:xfrm>
            <a:off x="20" y="134481"/>
            <a:ext cx="12191980" cy="6857990"/>
          </a:xfrm>
          <a:prstGeom prst="rect">
            <a:avLst/>
          </a:prstGeom>
        </p:spPr>
      </p:pic>
      <p:cxnSp>
        <p:nvCxnSpPr>
          <p:cNvPr id="26" name="Straight Connector 25">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2421466"/>
            <a:ext cx="9144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27" name="Content Placeholder 7">
            <a:extLst>
              <a:ext uri="{FF2B5EF4-FFF2-40B4-BE49-F238E27FC236}">
                <a16:creationId xmlns:a16="http://schemas.microsoft.com/office/drawing/2014/main" id="{35D32A7B-E816-0BFC-72BC-A45B6EC88DB8}"/>
              </a:ext>
            </a:extLst>
          </p:cNvPr>
          <p:cNvSpPr>
            <a:spLocks noGrp="1"/>
          </p:cNvSpPr>
          <p:nvPr>
            <p:ph idx="1"/>
          </p:nvPr>
        </p:nvSpPr>
        <p:spPr>
          <a:xfrm>
            <a:off x="5867401" y="1144991"/>
            <a:ext cx="5578283" cy="5279965"/>
          </a:xfrm>
        </p:spPr>
        <p:txBody>
          <a:bodyPr>
            <a:normAutofit/>
          </a:bodyPr>
          <a:lstStyle/>
          <a:p>
            <a:r>
              <a:rPr lang="en-US" dirty="0">
                <a:solidFill>
                  <a:schemeClr val="accent4">
                    <a:lumMod val="20000"/>
                    <a:lumOff val="80000"/>
                  </a:schemeClr>
                </a:solidFill>
                <a:latin typeface="Times New Roman"/>
                <a:cs typeface="Times New Roman"/>
              </a:rPr>
              <a:t>To analyze Pizza Hut’s sales data using SQL to uncover valuable business insights such as:</a:t>
            </a:r>
            <a:endParaRPr lang="en-US">
              <a:solidFill>
                <a:schemeClr val="accent4">
                  <a:lumMod val="20000"/>
                  <a:lumOff val="80000"/>
                </a:schemeClr>
              </a:solidFill>
              <a:latin typeface="Times New Roman"/>
              <a:cs typeface="Times New Roman"/>
            </a:endParaRPr>
          </a:p>
          <a:p>
            <a:pPr>
              <a:buSzPct val="114999"/>
            </a:pPr>
            <a:r>
              <a:rPr lang="en-US" dirty="0">
                <a:solidFill>
                  <a:schemeClr val="accent4">
                    <a:lumMod val="20000"/>
                    <a:lumOff val="80000"/>
                  </a:schemeClr>
                </a:solidFill>
                <a:latin typeface="Times New Roman"/>
                <a:cs typeface="Times New Roman"/>
              </a:rPr>
              <a:t>Customer ordering behavior and preferences</a:t>
            </a:r>
            <a:endParaRPr lang="en-US">
              <a:solidFill>
                <a:schemeClr val="accent4">
                  <a:lumMod val="20000"/>
                  <a:lumOff val="80000"/>
                </a:schemeClr>
              </a:solidFill>
              <a:latin typeface="Times New Roman"/>
              <a:cs typeface="Times New Roman"/>
            </a:endParaRPr>
          </a:p>
          <a:p>
            <a:pPr>
              <a:buSzPct val="114999"/>
            </a:pPr>
            <a:r>
              <a:rPr lang="en-US" dirty="0">
                <a:solidFill>
                  <a:schemeClr val="accent4">
                    <a:lumMod val="20000"/>
                    <a:lumOff val="80000"/>
                  </a:schemeClr>
                </a:solidFill>
                <a:latin typeface="Times New Roman"/>
                <a:cs typeface="Times New Roman"/>
              </a:rPr>
              <a:t>Revenue generation trends and top-selling pizzas</a:t>
            </a:r>
            <a:endParaRPr lang="en-US">
              <a:solidFill>
                <a:schemeClr val="accent4">
                  <a:lumMod val="20000"/>
                  <a:lumOff val="80000"/>
                </a:schemeClr>
              </a:solidFill>
              <a:latin typeface="Times New Roman"/>
              <a:cs typeface="Times New Roman"/>
            </a:endParaRPr>
          </a:p>
          <a:p>
            <a:pPr>
              <a:buSzPct val="114999"/>
            </a:pPr>
            <a:r>
              <a:rPr lang="en-US" dirty="0">
                <a:solidFill>
                  <a:schemeClr val="accent4">
                    <a:lumMod val="20000"/>
                    <a:lumOff val="80000"/>
                  </a:schemeClr>
                </a:solidFill>
                <a:latin typeface="Times New Roman"/>
                <a:cs typeface="Times New Roman"/>
              </a:rPr>
              <a:t>Identification of most popular pizza types and categories</a:t>
            </a:r>
          </a:p>
          <a:p>
            <a:pPr>
              <a:buSzPct val="114999"/>
            </a:pPr>
            <a:r>
              <a:rPr lang="en-US" dirty="0">
                <a:solidFill>
                  <a:schemeClr val="accent4">
                    <a:lumMod val="20000"/>
                    <a:lumOff val="80000"/>
                  </a:schemeClr>
                </a:solidFill>
                <a:latin typeface="Times New Roman"/>
                <a:cs typeface="Times New Roman"/>
              </a:rPr>
              <a:t>Gaining hands-on experience in applying SQL for real-world data analysis</a:t>
            </a:r>
          </a:p>
          <a:p>
            <a:pPr>
              <a:buSzPct val="114999"/>
            </a:pPr>
            <a:endParaRPr lang="en-US" dirty="0">
              <a:solidFill>
                <a:srgbClr val="FFFFFF"/>
              </a:solidFill>
            </a:endParaRPr>
          </a:p>
        </p:txBody>
      </p:sp>
      <p:pic>
        <p:nvPicPr>
          <p:cNvPr id="6" name="Picture 5" descr="Close-up of a magnifying glass with words&#10;&#10;AI-generated content may be incorrect.">
            <a:extLst>
              <a:ext uri="{FF2B5EF4-FFF2-40B4-BE49-F238E27FC236}">
                <a16:creationId xmlns:a16="http://schemas.microsoft.com/office/drawing/2014/main" id="{12D51413-9A51-7918-70A9-3950E8EFD401}"/>
              </a:ext>
            </a:extLst>
          </p:cNvPr>
          <p:cNvPicPr>
            <a:picLocks noChangeAspect="1"/>
          </p:cNvPicPr>
          <p:nvPr/>
        </p:nvPicPr>
        <p:blipFill>
          <a:blip r:embed="rId3"/>
          <a:stretch>
            <a:fillRect/>
          </a:stretch>
        </p:blipFill>
        <p:spPr>
          <a:xfrm>
            <a:off x="338573" y="1300526"/>
            <a:ext cx="4959823" cy="4253047"/>
          </a:xfrm>
          <a:prstGeom prst="rect">
            <a:avLst/>
          </a:prstGeom>
          <a:ln>
            <a:noFill/>
          </a:ln>
          <a:effectLst>
            <a:softEdge rad="112500"/>
          </a:effectLst>
        </p:spPr>
      </p:pic>
    </p:spTree>
    <p:extLst>
      <p:ext uri="{BB962C8B-B14F-4D97-AF65-F5344CB8AC3E}">
        <p14:creationId xmlns:p14="http://schemas.microsoft.com/office/powerpoint/2010/main" val="329493950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close up of a wood panel&#10;&#10;AI-generated content may be incorrect.">
            <a:extLst>
              <a:ext uri="{FF2B5EF4-FFF2-40B4-BE49-F238E27FC236}">
                <a16:creationId xmlns:a16="http://schemas.microsoft.com/office/drawing/2014/main" id="{F905D16F-AB13-D2D6-5B54-1C98F27A1002}"/>
              </a:ext>
            </a:extLst>
          </p:cNvPr>
          <p:cNvPicPr>
            <a:picLocks noGrp="1" noChangeAspect="1"/>
          </p:cNvPicPr>
          <p:nvPr>
            <p:ph idx="1"/>
          </p:nvPr>
        </p:nvPicPr>
        <p:blipFill>
          <a:blip r:embed="rId2"/>
          <a:stretch>
            <a:fillRect/>
          </a:stretch>
        </p:blipFill>
        <p:spPr>
          <a:xfrm>
            <a:off x="18742" y="1256"/>
            <a:ext cx="12171816" cy="6860150"/>
          </a:xfrm>
          <a:prstGeom prst="rect">
            <a:avLst/>
          </a:prstGeom>
        </p:spPr>
      </p:pic>
      <p:pic>
        <p:nvPicPr>
          <p:cNvPr id="11" name="Picture 10">
            <a:extLst>
              <a:ext uri="{FF2B5EF4-FFF2-40B4-BE49-F238E27FC236}">
                <a16:creationId xmlns:a16="http://schemas.microsoft.com/office/drawing/2014/main" id="{C539401C-6E45-2105-3D58-1BD7A3B0A3D0}"/>
              </a:ext>
            </a:extLst>
          </p:cNvPr>
          <p:cNvPicPr>
            <a:picLocks noChangeAspect="1"/>
          </p:cNvPicPr>
          <p:nvPr/>
        </p:nvPicPr>
        <p:blipFill>
          <a:blip r:embed="rId3"/>
          <a:stretch>
            <a:fillRect/>
          </a:stretch>
        </p:blipFill>
        <p:spPr>
          <a:xfrm>
            <a:off x="-22067" y="-117557"/>
            <a:ext cx="12380348" cy="7003467"/>
          </a:xfrm>
          <a:prstGeom prst="rect">
            <a:avLst/>
          </a:prstGeom>
        </p:spPr>
      </p:pic>
    </p:spTree>
    <p:extLst>
      <p:ext uri="{BB962C8B-B14F-4D97-AF65-F5344CB8AC3E}">
        <p14:creationId xmlns:p14="http://schemas.microsoft.com/office/powerpoint/2010/main" val="4187488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7B9AE-DC6B-0189-F5C9-072A3EF56F6A}"/>
              </a:ext>
            </a:extLst>
          </p:cNvPr>
          <p:cNvSpPr>
            <a:spLocks noGrp="1"/>
          </p:cNvSpPr>
          <p:nvPr>
            <p:ph type="title"/>
          </p:nvPr>
        </p:nvSpPr>
        <p:spPr>
          <a:xfrm>
            <a:off x="521208" y="978408"/>
            <a:ext cx="11155680" cy="977127"/>
          </a:xfrm>
        </p:spPr>
        <p:txBody>
          <a:bodyPr/>
          <a:lstStyle/>
          <a:p>
            <a:r>
              <a:rPr lang="en-US">
                <a:solidFill>
                  <a:schemeClr val="accent5">
                    <a:lumMod val="76000"/>
                  </a:schemeClr>
                </a:solidFill>
                <a:latin typeface="Comic Sans MS"/>
              </a:rPr>
              <a:t>BASIC ANALYSIS</a:t>
            </a:r>
          </a:p>
        </p:txBody>
      </p:sp>
      <p:sp>
        <p:nvSpPr>
          <p:cNvPr id="3" name="Content Placeholder 2">
            <a:extLst>
              <a:ext uri="{FF2B5EF4-FFF2-40B4-BE49-F238E27FC236}">
                <a16:creationId xmlns:a16="http://schemas.microsoft.com/office/drawing/2014/main" id="{5E441D17-68CC-549B-2180-BE9E1CDD6368}"/>
              </a:ext>
            </a:extLst>
          </p:cNvPr>
          <p:cNvSpPr>
            <a:spLocks noGrp="1"/>
          </p:cNvSpPr>
          <p:nvPr>
            <p:ph idx="1"/>
          </p:nvPr>
        </p:nvSpPr>
        <p:spPr>
          <a:xfrm>
            <a:off x="521208" y="1728261"/>
            <a:ext cx="11155680" cy="4617675"/>
          </a:xfrm>
        </p:spPr>
        <p:txBody>
          <a:bodyPr vert="horz" lIns="91440" tIns="45720" rIns="91440" bIns="45720" rtlCol="0" anchor="t">
            <a:normAutofit/>
          </a:bodyPr>
          <a:lstStyle/>
          <a:p>
            <a:pPr marL="0" indent="0">
              <a:buNone/>
            </a:pPr>
            <a:r>
              <a:rPr lang="en-US" b="1" dirty="0">
                <a:solidFill>
                  <a:srgbClr val="050061"/>
                </a:solidFill>
                <a:latin typeface="HGGothicE"/>
                <a:ea typeface="HGGothicE"/>
              </a:rPr>
              <a:t> TOTAL ORDERS COUNT</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b="1" dirty="0">
                <a:solidFill>
                  <a:srgbClr val="050061"/>
                </a:solidFill>
                <a:latin typeface="HGGothicE"/>
                <a:ea typeface="HGGothicE"/>
              </a:rPr>
              <a:t>REVENUE CALCULATION</a:t>
            </a:r>
          </a:p>
        </p:txBody>
      </p:sp>
      <p:pic>
        <p:nvPicPr>
          <p:cNvPr id="10" name="Picture 9" descr="A close up of a text&#10;&#10;AI-generated content may be incorrect.">
            <a:extLst>
              <a:ext uri="{FF2B5EF4-FFF2-40B4-BE49-F238E27FC236}">
                <a16:creationId xmlns:a16="http://schemas.microsoft.com/office/drawing/2014/main" id="{D16133DA-82C6-AE22-A885-2E32EB4CDECF}"/>
              </a:ext>
            </a:extLst>
          </p:cNvPr>
          <p:cNvPicPr>
            <a:picLocks noChangeAspect="1"/>
          </p:cNvPicPr>
          <p:nvPr/>
        </p:nvPicPr>
        <p:blipFill>
          <a:blip r:embed="rId2"/>
          <a:stretch>
            <a:fillRect/>
          </a:stretch>
        </p:blipFill>
        <p:spPr>
          <a:xfrm>
            <a:off x="872544" y="2248578"/>
            <a:ext cx="3837875" cy="1278418"/>
          </a:xfrm>
          <a:prstGeom prst="rect">
            <a:avLst/>
          </a:prstGeom>
        </p:spPr>
      </p:pic>
      <p:pic>
        <p:nvPicPr>
          <p:cNvPr id="12" name="Picture 11" descr="A close up of text&#10;&#10;AI-generated content may be incorrect.">
            <a:extLst>
              <a:ext uri="{FF2B5EF4-FFF2-40B4-BE49-F238E27FC236}">
                <a16:creationId xmlns:a16="http://schemas.microsoft.com/office/drawing/2014/main" id="{4533B865-EB2C-F30F-47E8-2AE6E40E5B38}"/>
              </a:ext>
            </a:extLst>
          </p:cNvPr>
          <p:cNvPicPr>
            <a:picLocks noChangeAspect="1"/>
          </p:cNvPicPr>
          <p:nvPr/>
        </p:nvPicPr>
        <p:blipFill>
          <a:blip r:embed="rId3"/>
          <a:stretch>
            <a:fillRect/>
          </a:stretch>
        </p:blipFill>
        <p:spPr>
          <a:xfrm>
            <a:off x="756099" y="4665639"/>
            <a:ext cx="4056246" cy="1567621"/>
          </a:xfrm>
          <a:prstGeom prst="rect">
            <a:avLst/>
          </a:prstGeom>
        </p:spPr>
      </p:pic>
      <p:pic>
        <p:nvPicPr>
          <p:cNvPr id="4" name="Picture 3" descr="A close up of numbers&#10;&#10;AI-generated content may be incorrect.">
            <a:extLst>
              <a:ext uri="{FF2B5EF4-FFF2-40B4-BE49-F238E27FC236}">
                <a16:creationId xmlns:a16="http://schemas.microsoft.com/office/drawing/2014/main" id="{57721D51-A2E3-C736-F563-57BE7CD81373}"/>
              </a:ext>
            </a:extLst>
          </p:cNvPr>
          <p:cNvPicPr>
            <a:picLocks noChangeAspect="1"/>
          </p:cNvPicPr>
          <p:nvPr/>
        </p:nvPicPr>
        <p:blipFill>
          <a:blip r:embed="rId4"/>
          <a:stretch>
            <a:fillRect/>
          </a:stretch>
        </p:blipFill>
        <p:spPr>
          <a:xfrm>
            <a:off x="8220916" y="2430556"/>
            <a:ext cx="1969433" cy="921123"/>
          </a:xfrm>
          <a:prstGeom prst="rect">
            <a:avLst/>
          </a:prstGeom>
        </p:spPr>
      </p:pic>
      <p:pic>
        <p:nvPicPr>
          <p:cNvPr id="5" name="Picture 4" descr="A close up of numbers&#10;&#10;AI-generated content may be incorrect.">
            <a:extLst>
              <a:ext uri="{FF2B5EF4-FFF2-40B4-BE49-F238E27FC236}">
                <a16:creationId xmlns:a16="http://schemas.microsoft.com/office/drawing/2014/main" id="{CAB68A58-7CC1-29B5-FDBA-A7A3FB038837}"/>
              </a:ext>
            </a:extLst>
          </p:cNvPr>
          <p:cNvPicPr>
            <a:picLocks noChangeAspect="1"/>
          </p:cNvPicPr>
          <p:nvPr/>
        </p:nvPicPr>
        <p:blipFill>
          <a:blip r:embed="rId5"/>
          <a:stretch>
            <a:fillRect/>
          </a:stretch>
        </p:blipFill>
        <p:spPr>
          <a:xfrm>
            <a:off x="8019210" y="4660526"/>
            <a:ext cx="2367242" cy="1029820"/>
          </a:xfrm>
          <a:prstGeom prst="rect">
            <a:avLst/>
          </a:prstGeom>
        </p:spPr>
      </p:pic>
    </p:spTree>
    <p:extLst>
      <p:ext uri="{BB962C8B-B14F-4D97-AF65-F5344CB8AC3E}">
        <p14:creationId xmlns:p14="http://schemas.microsoft.com/office/powerpoint/2010/main" val="460432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FA6D576C-FEB4-9AC1-2489-C41097A9460E}"/>
              </a:ext>
            </a:extLst>
          </p:cNvPr>
          <p:cNvSpPr>
            <a:spLocks noGrp="1"/>
          </p:cNvSpPr>
          <p:nvPr>
            <p:ph idx="1"/>
          </p:nvPr>
        </p:nvSpPr>
        <p:spPr>
          <a:xfrm>
            <a:off x="521208" y="1020991"/>
            <a:ext cx="11155680" cy="5324945"/>
          </a:xfrm>
        </p:spPr>
        <p:txBody>
          <a:bodyPr vert="horz" lIns="91440" tIns="45720" rIns="91440" bIns="45720" rtlCol="0" anchor="t">
            <a:normAutofit/>
          </a:bodyPr>
          <a:lstStyle/>
          <a:p>
            <a:pPr marL="0" indent="0">
              <a:buNone/>
            </a:pPr>
            <a:r>
              <a:rPr lang="en-US" b="1">
                <a:solidFill>
                  <a:srgbClr val="050061"/>
                </a:solidFill>
                <a:latin typeface="HGGothicE"/>
                <a:ea typeface="HGGothicE"/>
              </a:rPr>
              <a:t>  TOP 5 POPULAR PIZZAS</a:t>
            </a:r>
          </a:p>
          <a:p>
            <a:pPr marL="0" indent="0">
              <a:buNone/>
            </a:pPr>
            <a:endParaRPr lang="en-US" b="1">
              <a:solidFill>
                <a:srgbClr val="050061"/>
              </a:solidFill>
              <a:latin typeface="HGGothicE"/>
              <a:ea typeface="HGGothicE"/>
            </a:endParaRPr>
          </a:p>
          <a:p>
            <a:pPr marL="0" indent="0">
              <a:buNone/>
            </a:pPr>
            <a:endParaRPr lang="en-US" b="1">
              <a:solidFill>
                <a:srgbClr val="050061"/>
              </a:solidFill>
              <a:latin typeface="HGGothicE"/>
              <a:ea typeface="HGGothicE"/>
            </a:endParaRPr>
          </a:p>
          <a:p>
            <a:pPr marL="0" indent="0">
              <a:buNone/>
            </a:pPr>
            <a:endParaRPr lang="en-US" b="1">
              <a:solidFill>
                <a:srgbClr val="050061"/>
              </a:solidFill>
              <a:latin typeface="HGGothicE"/>
              <a:ea typeface="HGGothicE"/>
            </a:endParaRPr>
          </a:p>
        </p:txBody>
      </p:sp>
      <p:pic>
        <p:nvPicPr>
          <p:cNvPr id="20" name="Picture 19" descr="A screenshot of a computer program&#10;&#10;AI-generated content may be incorrect.">
            <a:extLst>
              <a:ext uri="{FF2B5EF4-FFF2-40B4-BE49-F238E27FC236}">
                <a16:creationId xmlns:a16="http://schemas.microsoft.com/office/drawing/2014/main" id="{6B9905A0-2101-4D2C-258C-41C0FF57915C}"/>
              </a:ext>
            </a:extLst>
          </p:cNvPr>
          <p:cNvPicPr>
            <a:picLocks noChangeAspect="1"/>
          </p:cNvPicPr>
          <p:nvPr/>
        </p:nvPicPr>
        <p:blipFill>
          <a:blip r:embed="rId2"/>
          <a:stretch>
            <a:fillRect/>
          </a:stretch>
        </p:blipFill>
        <p:spPr>
          <a:xfrm>
            <a:off x="1043028" y="1818368"/>
            <a:ext cx="3743325" cy="2830045"/>
          </a:xfrm>
          <a:prstGeom prst="rect">
            <a:avLst/>
          </a:prstGeom>
        </p:spPr>
      </p:pic>
      <p:pic>
        <p:nvPicPr>
          <p:cNvPr id="21" name="Picture 20" descr="A screenshot of a menu&#10;&#10;AI-generated content may be incorrect.">
            <a:extLst>
              <a:ext uri="{FF2B5EF4-FFF2-40B4-BE49-F238E27FC236}">
                <a16:creationId xmlns:a16="http://schemas.microsoft.com/office/drawing/2014/main" id="{C972BF92-0AA0-F65A-6877-872E5F1D4171}"/>
              </a:ext>
            </a:extLst>
          </p:cNvPr>
          <p:cNvPicPr>
            <a:picLocks noChangeAspect="1"/>
          </p:cNvPicPr>
          <p:nvPr/>
        </p:nvPicPr>
        <p:blipFill>
          <a:blip r:embed="rId3"/>
          <a:stretch>
            <a:fillRect/>
          </a:stretch>
        </p:blipFill>
        <p:spPr>
          <a:xfrm>
            <a:off x="7460849" y="1924891"/>
            <a:ext cx="3524809" cy="1764365"/>
          </a:xfrm>
          <a:prstGeom prst="rect">
            <a:avLst/>
          </a:prstGeom>
        </p:spPr>
      </p:pic>
    </p:spTree>
    <p:extLst>
      <p:ext uri="{BB962C8B-B14F-4D97-AF65-F5344CB8AC3E}">
        <p14:creationId xmlns:p14="http://schemas.microsoft.com/office/powerpoint/2010/main" val="1787267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Content Placeholder 13" descr="A close up of a wood surface&#10;&#10;AI-generated content may be incorrect.">
            <a:extLst>
              <a:ext uri="{FF2B5EF4-FFF2-40B4-BE49-F238E27FC236}">
                <a16:creationId xmlns:a16="http://schemas.microsoft.com/office/drawing/2014/main" id="{523546B1-5321-64B3-CBDD-74494EE153F5}"/>
              </a:ext>
            </a:extLst>
          </p:cNvPr>
          <p:cNvPicPr>
            <a:picLocks noGrp="1" noChangeAspect="1"/>
          </p:cNvPicPr>
          <p:nvPr>
            <p:ph idx="1"/>
          </p:nvPr>
        </p:nvPicPr>
        <p:blipFill>
          <a:blip r:embed="rId2"/>
          <a:srcRect t="34285" b="34066"/>
          <a:stretch>
            <a:fillRect/>
          </a:stretch>
        </p:blipFill>
        <p:spPr>
          <a:xfrm>
            <a:off x="20" y="10"/>
            <a:ext cx="12188932" cy="6857990"/>
          </a:xfrm>
          <a:prstGeom prst="rect">
            <a:avLst/>
          </a:prstGeom>
        </p:spPr>
      </p:pic>
      <p:sp>
        <p:nvSpPr>
          <p:cNvPr id="16" name="TextBox 15">
            <a:extLst>
              <a:ext uri="{FF2B5EF4-FFF2-40B4-BE49-F238E27FC236}">
                <a16:creationId xmlns:a16="http://schemas.microsoft.com/office/drawing/2014/main" id="{13E5AFC6-35A0-68F0-0A1C-D53CB59F80EB}"/>
              </a:ext>
            </a:extLst>
          </p:cNvPr>
          <p:cNvSpPr txBox="1"/>
          <p:nvPr/>
        </p:nvSpPr>
        <p:spPr>
          <a:xfrm>
            <a:off x="773206" y="145676"/>
            <a:ext cx="9894794" cy="54634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175"/>
              </a:lnSpc>
            </a:pPr>
            <a:r>
              <a:rPr lang="en-US" sz="2800">
                <a:solidFill>
                  <a:schemeClr val="bg1"/>
                </a:solidFill>
                <a:latin typeface="Comic Sans MS"/>
                <a:cs typeface="Segoe UI"/>
              </a:rPr>
              <a:t>                                   </a:t>
            </a:r>
            <a:endParaRPr lang="en-US">
              <a:solidFill>
                <a:schemeClr val="bg1"/>
              </a:solidFill>
            </a:endParaRPr>
          </a:p>
          <a:p>
            <a:pPr>
              <a:lnSpc>
                <a:spcPts val="2175"/>
              </a:lnSpc>
            </a:pPr>
            <a:r>
              <a:rPr lang="en-US" sz="2800">
                <a:solidFill>
                  <a:schemeClr val="bg1"/>
                </a:solidFill>
                <a:latin typeface="Comic Sans MS"/>
                <a:cs typeface="Segoe UI"/>
              </a:rPr>
              <a:t>                                INSIGHTS</a:t>
            </a:r>
            <a:endParaRPr lang="en-US">
              <a:solidFill>
                <a:schemeClr val="bg1"/>
              </a:solidFill>
            </a:endParaRPr>
          </a:p>
          <a:p>
            <a:pPr>
              <a:lnSpc>
                <a:spcPts val="2175"/>
              </a:lnSpc>
            </a:pPr>
            <a:endParaRPr lang="en-US" sz="2800">
              <a:solidFill>
                <a:schemeClr val="bg1"/>
              </a:solidFill>
              <a:latin typeface="Comic Sans MS"/>
              <a:cs typeface="Segoe UI"/>
            </a:endParaRPr>
          </a:p>
          <a:p>
            <a:pPr>
              <a:lnSpc>
                <a:spcPts val="2175"/>
              </a:lnSpc>
            </a:pPr>
            <a:endParaRPr lang="en-US" sz="2400">
              <a:latin typeface="Calibri"/>
              <a:ea typeface="Calibri"/>
              <a:cs typeface="Segoe UI"/>
            </a:endParaRPr>
          </a:p>
          <a:p>
            <a:pPr marL="342900" indent="-342900">
              <a:lnSpc>
                <a:spcPts val="2175"/>
              </a:lnSpc>
              <a:buFont typeface="Arial"/>
              <a:buChar char="•"/>
            </a:pPr>
            <a:r>
              <a:rPr lang="en-US" sz="2400">
                <a:solidFill>
                  <a:schemeClr val="bg1"/>
                </a:solidFill>
                <a:latin typeface="Calibri"/>
                <a:ea typeface="Calibri"/>
                <a:cs typeface="Segoe UI"/>
              </a:rPr>
              <a:t>The Total number of orders placed by customers are 21,350.​</a:t>
            </a:r>
            <a:endParaRPr lang="en-US">
              <a:solidFill>
                <a:schemeClr val="bg1"/>
              </a:solidFill>
              <a:latin typeface="Calibri"/>
              <a:ea typeface="Calibri"/>
              <a:cs typeface="Segoe UI"/>
            </a:endParaRPr>
          </a:p>
          <a:p>
            <a:pPr marL="342900" indent="-342900">
              <a:lnSpc>
                <a:spcPts val="2175"/>
              </a:lnSpc>
              <a:buFont typeface="Arial"/>
              <a:buChar char="•"/>
            </a:pPr>
            <a:endParaRPr lang="en-US" sz="2400">
              <a:solidFill>
                <a:schemeClr val="bg1"/>
              </a:solidFill>
              <a:latin typeface="Calibri"/>
              <a:ea typeface="Calibri"/>
              <a:cs typeface="Segoe UI"/>
            </a:endParaRPr>
          </a:p>
          <a:p>
            <a:pPr marL="342900" indent="-342900">
              <a:lnSpc>
                <a:spcPts val="2175"/>
              </a:lnSpc>
              <a:buFont typeface="Arial"/>
              <a:buChar char="•"/>
            </a:pPr>
            <a:r>
              <a:rPr lang="en-US" sz="2400">
                <a:solidFill>
                  <a:schemeClr val="bg1"/>
                </a:solidFill>
                <a:latin typeface="Calibri"/>
                <a:ea typeface="Calibri"/>
                <a:cs typeface="Segoe UI"/>
              </a:rPr>
              <a:t>The Total Revenue Generated is $817,860.0499​</a:t>
            </a:r>
            <a:endParaRPr lang="en-US">
              <a:solidFill>
                <a:schemeClr val="bg1"/>
              </a:solidFill>
              <a:latin typeface="Calibri"/>
              <a:ea typeface="Calibri"/>
              <a:cs typeface="Segoe UI"/>
            </a:endParaRPr>
          </a:p>
          <a:p>
            <a:pPr marL="342900" indent="-342900">
              <a:lnSpc>
                <a:spcPts val="2175"/>
              </a:lnSpc>
              <a:buFont typeface="Arial"/>
              <a:buChar char="•"/>
            </a:pPr>
            <a:endParaRPr lang="en-US" sz="2400">
              <a:solidFill>
                <a:schemeClr val="bg1"/>
              </a:solidFill>
              <a:latin typeface="Calibri"/>
              <a:ea typeface="Calibri"/>
              <a:cs typeface="Segoe UI"/>
            </a:endParaRPr>
          </a:p>
          <a:p>
            <a:pPr marL="342900" indent="-342900">
              <a:lnSpc>
                <a:spcPts val="2175"/>
              </a:lnSpc>
              <a:buFont typeface="Arial"/>
              <a:buChar char="•"/>
            </a:pPr>
            <a:r>
              <a:rPr lang="en-US" sz="2400">
                <a:solidFill>
                  <a:schemeClr val="bg1"/>
                </a:solidFill>
                <a:latin typeface="Calibri"/>
                <a:ea typeface="Calibri"/>
                <a:cs typeface="Segoe UI"/>
              </a:rPr>
              <a:t>The Most Expensive Pizza is ''</a:t>
            </a:r>
            <a:r>
              <a:rPr lang="en-US" sz="2400" i="1">
                <a:solidFill>
                  <a:schemeClr val="bg1"/>
                </a:solidFill>
                <a:latin typeface="Calibri"/>
                <a:ea typeface="Calibri"/>
                <a:cs typeface="Segoe UI"/>
              </a:rPr>
              <a:t>The Greek </a:t>
            </a:r>
            <a:r>
              <a:rPr lang="en-US" sz="2400">
                <a:solidFill>
                  <a:schemeClr val="bg1"/>
                </a:solidFill>
                <a:latin typeface="Calibri"/>
                <a:ea typeface="Calibri"/>
                <a:cs typeface="Segoe UI"/>
              </a:rPr>
              <a:t>XXL'' with price </a:t>
            </a:r>
            <a:r>
              <a:rPr lang="en-US">
                <a:solidFill>
                  <a:schemeClr val="bg1"/>
                </a:solidFill>
                <a:latin typeface="Calibri"/>
                <a:ea typeface="Calibri"/>
                <a:cs typeface="Calibri"/>
              </a:rPr>
              <a:t>$35.95​</a:t>
            </a:r>
          </a:p>
          <a:p>
            <a:pPr marL="342900" indent="-342900">
              <a:lnSpc>
                <a:spcPts val="2175"/>
              </a:lnSpc>
              <a:buFont typeface="Arial"/>
              <a:buChar char="•"/>
            </a:pPr>
            <a:endParaRPr lang="en-US">
              <a:solidFill>
                <a:schemeClr val="bg1"/>
              </a:solidFill>
              <a:latin typeface="Calibri"/>
              <a:ea typeface="Calibri"/>
              <a:cs typeface="Calibri"/>
            </a:endParaRPr>
          </a:p>
          <a:p>
            <a:pPr marL="342900" indent="-342900">
              <a:lnSpc>
                <a:spcPts val="2175"/>
              </a:lnSpc>
              <a:buFont typeface="Arial"/>
              <a:buChar char="•"/>
            </a:pPr>
            <a:r>
              <a:rPr lang="en-US" sz="2400">
                <a:solidFill>
                  <a:schemeClr val="bg1"/>
                </a:solidFill>
                <a:latin typeface="Calibri"/>
                <a:ea typeface="Calibri"/>
                <a:cs typeface="Segoe UI"/>
              </a:rPr>
              <a:t>The Most Ordered pizza size is Large with 18,526 Orders​</a:t>
            </a:r>
            <a:endParaRPr lang="en-US">
              <a:solidFill>
                <a:schemeClr val="bg1"/>
              </a:solidFill>
              <a:latin typeface="Calibri"/>
              <a:ea typeface="Calibri"/>
              <a:cs typeface="Segoe UI"/>
            </a:endParaRPr>
          </a:p>
          <a:p>
            <a:pPr marL="342900" indent="-342900">
              <a:lnSpc>
                <a:spcPts val="2175"/>
              </a:lnSpc>
              <a:buFont typeface="Arial"/>
              <a:buChar char="•"/>
            </a:pPr>
            <a:endParaRPr lang="en-US" sz="2400">
              <a:solidFill>
                <a:schemeClr val="bg1"/>
              </a:solidFill>
              <a:latin typeface="Calibri"/>
              <a:ea typeface="Calibri"/>
              <a:cs typeface="Segoe UI"/>
            </a:endParaRPr>
          </a:p>
          <a:p>
            <a:pPr marL="342900" indent="-342900">
              <a:lnSpc>
                <a:spcPts val="2175"/>
              </a:lnSpc>
              <a:buFont typeface="Arial"/>
              <a:buChar char="•"/>
            </a:pPr>
            <a:r>
              <a:rPr lang="en-US" sz="2400">
                <a:solidFill>
                  <a:schemeClr val="bg1"/>
                </a:solidFill>
                <a:latin typeface="Calibri"/>
                <a:ea typeface="Calibri"/>
                <a:cs typeface="Segoe UI"/>
              </a:rPr>
              <a:t>It reflects customer behavior — group and family orders dominate.​</a:t>
            </a:r>
            <a:endParaRPr lang="en-US">
              <a:solidFill>
                <a:schemeClr val="bg1"/>
              </a:solidFill>
              <a:latin typeface="Calibri"/>
              <a:ea typeface="Calibri"/>
              <a:cs typeface="Calibri"/>
            </a:endParaRPr>
          </a:p>
          <a:p>
            <a:pPr marL="342900" indent="-342900">
              <a:lnSpc>
                <a:spcPts val="2175"/>
              </a:lnSpc>
              <a:buFont typeface="Arial"/>
              <a:buChar char="•"/>
            </a:pPr>
            <a:endParaRPr lang="en-US" sz="2400">
              <a:solidFill>
                <a:schemeClr val="bg1"/>
              </a:solidFill>
              <a:latin typeface="Calibri"/>
              <a:ea typeface="Calibri"/>
              <a:cs typeface="Segoe UI"/>
            </a:endParaRPr>
          </a:p>
          <a:p>
            <a:pPr marL="342900" indent="-342900">
              <a:lnSpc>
                <a:spcPts val="2175"/>
              </a:lnSpc>
              <a:buFont typeface="Arial"/>
              <a:buChar char="•"/>
            </a:pPr>
            <a:r>
              <a:rPr lang="en-US" sz="2400">
                <a:solidFill>
                  <a:schemeClr val="bg1"/>
                </a:solidFill>
                <a:latin typeface="Calibri"/>
                <a:ea typeface="Calibri"/>
                <a:cs typeface="Segoe UI"/>
              </a:rPr>
              <a:t>The Top 5 Popular Pizza are The Classic Deluxe Pizza, The Barbeque Chicken Pizza, The Hawaiian Pizza, The </a:t>
            </a:r>
            <a:r>
              <a:rPr lang="en-US" sz="2400" err="1">
                <a:solidFill>
                  <a:schemeClr val="bg1"/>
                </a:solidFill>
                <a:latin typeface="Calibri"/>
                <a:ea typeface="Calibri"/>
                <a:cs typeface="Segoe UI"/>
              </a:rPr>
              <a:t>Peppeoni</a:t>
            </a:r>
            <a:r>
              <a:rPr lang="en-US" sz="2400">
                <a:solidFill>
                  <a:schemeClr val="bg1"/>
                </a:solidFill>
                <a:latin typeface="Calibri"/>
                <a:ea typeface="Calibri"/>
                <a:cs typeface="Segoe UI"/>
              </a:rPr>
              <a:t> Pizza, The Thai Chicken Pizza.​</a:t>
            </a:r>
            <a:endParaRPr lang="en-US">
              <a:solidFill>
                <a:schemeClr val="bg1"/>
              </a:solidFill>
              <a:latin typeface="Calibri"/>
              <a:ea typeface="Calibri"/>
              <a:cs typeface="Calibri"/>
            </a:endParaRPr>
          </a:p>
          <a:p>
            <a:pPr marL="342900" indent="-342900">
              <a:lnSpc>
                <a:spcPts val="2175"/>
              </a:lnSpc>
              <a:buFont typeface="Arial"/>
              <a:buChar char="•"/>
            </a:pPr>
            <a:endParaRPr lang="en-US" sz="2400">
              <a:solidFill>
                <a:schemeClr val="bg1"/>
              </a:solidFill>
              <a:latin typeface="Calibri"/>
              <a:ea typeface="Calibri"/>
              <a:cs typeface="Segoe UI"/>
            </a:endParaRPr>
          </a:p>
          <a:p>
            <a:pPr marL="342900" indent="-342900">
              <a:lnSpc>
                <a:spcPts val="2175"/>
              </a:lnSpc>
              <a:buFont typeface="Arial"/>
              <a:buChar char="•"/>
            </a:pPr>
            <a:r>
              <a:rPr lang="en-US" sz="2400">
                <a:solidFill>
                  <a:schemeClr val="bg1"/>
                </a:solidFill>
                <a:latin typeface="Calibri"/>
                <a:ea typeface="Calibri"/>
                <a:cs typeface="Segoe UI"/>
              </a:rPr>
              <a:t>The most frequently ordered pizzas highlight customer favorites and menu strengths.​</a:t>
            </a:r>
            <a:endParaRPr lang="en-US">
              <a:solidFill>
                <a:schemeClr val="bg1"/>
              </a:solidFill>
              <a:latin typeface="Calibri"/>
              <a:ea typeface="Calibri"/>
              <a:cs typeface="Calibri"/>
            </a:endParaRPr>
          </a:p>
        </p:txBody>
      </p:sp>
      <p:pic>
        <p:nvPicPr>
          <p:cNvPr id="2" name="Picture 1" descr="A slice of pizza with pepperoni&#10;&#10;AI-generated content may be incorrect.">
            <a:extLst>
              <a:ext uri="{FF2B5EF4-FFF2-40B4-BE49-F238E27FC236}">
                <a16:creationId xmlns:a16="http://schemas.microsoft.com/office/drawing/2014/main" id="{7526EB91-F513-2DDC-CD4F-CB0688448BDE}"/>
              </a:ext>
            </a:extLst>
          </p:cNvPr>
          <p:cNvPicPr>
            <a:picLocks noChangeAspect="1"/>
          </p:cNvPicPr>
          <p:nvPr/>
        </p:nvPicPr>
        <p:blipFill>
          <a:blip r:embed="rId3"/>
          <a:srcRect l="14694" t="16735" r="7755" b="13878"/>
          <a:stretch>
            <a:fillRect/>
          </a:stretch>
        </p:blipFill>
        <p:spPr>
          <a:xfrm rot="9300000">
            <a:off x="10519466" y="5281770"/>
            <a:ext cx="2127383" cy="1903450"/>
          </a:xfrm>
          <a:prstGeom prst="ellipse">
            <a:avLst/>
          </a:prstGeom>
          <a:ln>
            <a:noFill/>
          </a:ln>
          <a:effectLst>
            <a:softEdge rad="112500"/>
          </a:effectLst>
        </p:spPr>
      </p:pic>
    </p:spTree>
    <p:extLst>
      <p:ext uri="{BB962C8B-B14F-4D97-AF65-F5344CB8AC3E}">
        <p14:creationId xmlns:p14="http://schemas.microsoft.com/office/powerpoint/2010/main" val="189066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F496-2F5A-0145-F76D-CA5FD2177247}"/>
              </a:ext>
            </a:extLst>
          </p:cNvPr>
          <p:cNvSpPr>
            <a:spLocks noGrp="1"/>
          </p:cNvSpPr>
          <p:nvPr>
            <p:ph type="title"/>
          </p:nvPr>
        </p:nvSpPr>
        <p:spPr>
          <a:xfrm>
            <a:off x="521208" y="978408"/>
            <a:ext cx="11155680" cy="925158"/>
          </a:xfrm>
        </p:spPr>
        <p:txBody>
          <a:bodyPr>
            <a:normAutofit/>
          </a:bodyPr>
          <a:lstStyle/>
          <a:p>
            <a:r>
              <a:rPr lang="en-US">
                <a:solidFill>
                  <a:srgbClr val="C00000"/>
                </a:solidFill>
                <a:latin typeface="Comic Sans MS"/>
              </a:rPr>
              <a:t>INTERMEDIATE ANALYSIS</a:t>
            </a:r>
          </a:p>
        </p:txBody>
      </p:sp>
      <p:sp>
        <p:nvSpPr>
          <p:cNvPr id="3" name="Content Placeholder 2">
            <a:extLst>
              <a:ext uri="{FF2B5EF4-FFF2-40B4-BE49-F238E27FC236}">
                <a16:creationId xmlns:a16="http://schemas.microsoft.com/office/drawing/2014/main" id="{EE0EEAC1-B261-9016-86C6-ABA8B0226567}"/>
              </a:ext>
            </a:extLst>
          </p:cNvPr>
          <p:cNvSpPr>
            <a:spLocks noGrp="1"/>
          </p:cNvSpPr>
          <p:nvPr>
            <p:ph idx="1"/>
          </p:nvPr>
        </p:nvSpPr>
        <p:spPr>
          <a:xfrm>
            <a:off x="521208" y="1906256"/>
            <a:ext cx="11155680" cy="4439680"/>
          </a:xfrm>
        </p:spPr>
        <p:txBody>
          <a:bodyPr vert="horz" lIns="91440" tIns="45720" rIns="91440" bIns="45720" rtlCol="0" anchor="t">
            <a:normAutofit/>
          </a:bodyPr>
          <a:lstStyle/>
          <a:p>
            <a:pPr marL="0" indent="0">
              <a:buNone/>
            </a:pPr>
            <a:r>
              <a:rPr lang="en-US" b="1" dirty="0">
                <a:solidFill>
                  <a:srgbClr val="050061"/>
                </a:solidFill>
                <a:latin typeface="HGGothicE"/>
                <a:ea typeface="+mn-lt"/>
                <a:cs typeface="+mn-lt"/>
              </a:rPr>
              <a:t>    Order Trends by Hour</a:t>
            </a:r>
            <a:r>
              <a:rPr lang="en-US" b="1" dirty="0">
                <a:solidFill>
                  <a:srgbClr val="050061"/>
                </a:solidFill>
                <a:latin typeface="Comic Sans MS"/>
                <a:ea typeface="+mn-lt"/>
                <a:cs typeface="+mn-lt"/>
              </a:rPr>
              <a:t> </a:t>
            </a:r>
          </a:p>
          <a:p>
            <a:pPr marL="0" indent="0">
              <a:buNone/>
            </a:pPr>
            <a:endParaRPr lang="en-US" b="1">
              <a:solidFill>
                <a:srgbClr val="050061"/>
              </a:solidFill>
              <a:latin typeface="Comic Sans MS"/>
            </a:endParaRPr>
          </a:p>
        </p:txBody>
      </p:sp>
      <p:pic>
        <p:nvPicPr>
          <p:cNvPr id="4" name="Picture 3" descr="A screenshot of a computer code&#10;&#10;AI-generated content may be incorrect.">
            <a:extLst>
              <a:ext uri="{FF2B5EF4-FFF2-40B4-BE49-F238E27FC236}">
                <a16:creationId xmlns:a16="http://schemas.microsoft.com/office/drawing/2014/main" id="{8B7C68CB-8B2B-D36A-5AA2-4173A02F9868}"/>
              </a:ext>
            </a:extLst>
          </p:cNvPr>
          <p:cNvPicPr>
            <a:picLocks noChangeAspect="1"/>
          </p:cNvPicPr>
          <p:nvPr/>
        </p:nvPicPr>
        <p:blipFill>
          <a:blip r:embed="rId2"/>
          <a:stretch>
            <a:fillRect/>
          </a:stretch>
        </p:blipFill>
        <p:spPr>
          <a:xfrm>
            <a:off x="1192282" y="2537292"/>
            <a:ext cx="3898526" cy="287038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0A5EB9AD-52FE-76E9-46D8-667EC26438B6}"/>
              </a:ext>
            </a:extLst>
          </p:cNvPr>
          <p:cNvPicPr>
            <a:picLocks noChangeAspect="1"/>
          </p:cNvPicPr>
          <p:nvPr/>
        </p:nvPicPr>
        <p:blipFill>
          <a:blip r:embed="rId3"/>
          <a:stretch>
            <a:fillRect/>
          </a:stretch>
        </p:blipFill>
        <p:spPr>
          <a:xfrm>
            <a:off x="7990635" y="2535052"/>
            <a:ext cx="2553259" cy="2863663"/>
          </a:xfrm>
          <a:prstGeom prst="rect">
            <a:avLst/>
          </a:prstGeom>
        </p:spPr>
      </p:pic>
    </p:spTree>
    <p:extLst>
      <p:ext uri="{BB962C8B-B14F-4D97-AF65-F5344CB8AC3E}">
        <p14:creationId xmlns:p14="http://schemas.microsoft.com/office/powerpoint/2010/main" val="2605116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285173-2728-F254-2B58-84F7978BC0A2}"/>
              </a:ext>
            </a:extLst>
          </p:cNvPr>
          <p:cNvSpPr>
            <a:spLocks noGrp="1"/>
          </p:cNvSpPr>
          <p:nvPr>
            <p:ph idx="1"/>
          </p:nvPr>
        </p:nvSpPr>
        <p:spPr>
          <a:xfrm>
            <a:off x="521208" y="612870"/>
            <a:ext cx="11155680" cy="6362543"/>
          </a:xfrm>
        </p:spPr>
        <p:txBody>
          <a:bodyPr vert="horz" lIns="91440" tIns="45720" rIns="91440" bIns="45720" rtlCol="0" anchor="t">
            <a:normAutofit/>
          </a:bodyPr>
          <a:lstStyle/>
          <a:p>
            <a:pPr marL="0" indent="0">
              <a:buNone/>
            </a:pPr>
            <a:endParaRPr lang="en-US"/>
          </a:p>
          <a:p>
            <a:pPr marL="0" indent="0">
              <a:buNone/>
            </a:pPr>
            <a:endParaRPr lang="en-US" b="1" dirty="0">
              <a:solidFill>
                <a:srgbClr val="050061"/>
              </a:solidFill>
              <a:latin typeface="HGGothicE"/>
              <a:ea typeface="+mn-lt"/>
              <a:cs typeface="+mn-lt"/>
            </a:endParaRPr>
          </a:p>
          <a:p>
            <a:pPr marL="0" indent="0">
              <a:buNone/>
            </a:pPr>
            <a:r>
              <a:rPr lang="en-US" b="1" dirty="0">
                <a:solidFill>
                  <a:srgbClr val="050061"/>
                </a:solidFill>
                <a:latin typeface="HGGothicE"/>
                <a:ea typeface="+mn-lt"/>
                <a:cs typeface="+mn-lt"/>
              </a:rPr>
              <a:t>    Pizza Distribution by Category</a:t>
            </a:r>
            <a:endParaRPr lang="en-US" dirty="0"/>
          </a:p>
          <a:p>
            <a:pPr marL="0" indent="0">
              <a:buNone/>
            </a:pPr>
            <a:endParaRPr lang="en-US" b="1">
              <a:solidFill>
                <a:srgbClr val="050061"/>
              </a:solidFill>
              <a:latin typeface="HGGothicE"/>
            </a:endParaRPr>
          </a:p>
          <a:p>
            <a:pPr marL="0" indent="0">
              <a:buNone/>
            </a:pPr>
            <a:endParaRPr lang="en-US">
              <a:solidFill>
                <a:srgbClr val="050061"/>
              </a:solidFill>
              <a:latin typeface="HGGothicE"/>
              <a:ea typeface="HGGothicE"/>
            </a:endParaRPr>
          </a:p>
          <a:p>
            <a:pPr marL="0" indent="0">
              <a:buNone/>
            </a:pPr>
            <a:endParaRPr lang="en-US">
              <a:solidFill>
                <a:srgbClr val="050061"/>
              </a:solidFill>
              <a:latin typeface="Bierstadt"/>
              <a:ea typeface="HGGothicE"/>
            </a:endParaRPr>
          </a:p>
          <a:p>
            <a:pPr marL="0" indent="0">
              <a:buNone/>
            </a:pPr>
            <a:endParaRPr lang="en-US">
              <a:solidFill>
                <a:srgbClr val="050061"/>
              </a:solidFill>
              <a:latin typeface="Bierstadt"/>
              <a:ea typeface="HGGothicE"/>
            </a:endParaRPr>
          </a:p>
          <a:p>
            <a:pPr marL="0" indent="0">
              <a:buNone/>
            </a:pPr>
            <a:endParaRPr lang="en-US" b="1" dirty="0">
              <a:solidFill>
                <a:srgbClr val="262626"/>
              </a:solidFill>
              <a:latin typeface="HGGothicE"/>
              <a:ea typeface="HGGothicE"/>
            </a:endParaRPr>
          </a:p>
          <a:p>
            <a:pPr marL="0" indent="0">
              <a:buNone/>
            </a:pPr>
            <a:endParaRPr lang="en-US">
              <a:solidFill>
                <a:srgbClr val="050061"/>
              </a:solidFill>
              <a:latin typeface="HGGothicE"/>
              <a:ea typeface="HGGothicE"/>
            </a:endParaRPr>
          </a:p>
        </p:txBody>
      </p:sp>
      <p:pic>
        <p:nvPicPr>
          <p:cNvPr id="4" name="Picture 3">
            <a:extLst>
              <a:ext uri="{FF2B5EF4-FFF2-40B4-BE49-F238E27FC236}">
                <a16:creationId xmlns:a16="http://schemas.microsoft.com/office/drawing/2014/main" id="{29F36B5F-4612-0E0A-555F-3BAB9A2B9286}"/>
              </a:ext>
            </a:extLst>
          </p:cNvPr>
          <p:cNvPicPr>
            <a:picLocks noChangeAspect="1"/>
          </p:cNvPicPr>
          <p:nvPr/>
        </p:nvPicPr>
        <p:blipFill>
          <a:blip r:embed="rId2"/>
          <a:stretch>
            <a:fillRect/>
          </a:stretch>
        </p:blipFill>
        <p:spPr>
          <a:xfrm>
            <a:off x="1018931" y="2677690"/>
            <a:ext cx="5308210" cy="315227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9C407272-74CA-C4D0-9E84-C75DC7FA0497}"/>
              </a:ext>
            </a:extLst>
          </p:cNvPr>
          <p:cNvPicPr>
            <a:picLocks noChangeAspect="1"/>
          </p:cNvPicPr>
          <p:nvPr/>
        </p:nvPicPr>
        <p:blipFill>
          <a:blip r:embed="rId3"/>
          <a:stretch>
            <a:fillRect/>
          </a:stretch>
        </p:blipFill>
        <p:spPr>
          <a:xfrm>
            <a:off x="7393767" y="3098354"/>
            <a:ext cx="3454311" cy="1939121"/>
          </a:xfrm>
          <a:prstGeom prst="rect">
            <a:avLst/>
          </a:prstGeom>
        </p:spPr>
      </p:pic>
    </p:spTree>
    <p:extLst>
      <p:ext uri="{BB962C8B-B14F-4D97-AF65-F5344CB8AC3E}">
        <p14:creationId xmlns:p14="http://schemas.microsoft.com/office/powerpoint/2010/main" val="2005958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2414E-6C9A-F717-D18A-4D44730EEBD8}"/>
              </a:ext>
            </a:extLst>
          </p:cNvPr>
          <p:cNvSpPr>
            <a:spLocks noGrp="1"/>
          </p:cNvSpPr>
          <p:nvPr>
            <p:ph type="title"/>
          </p:nvPr>
        </p:nvSpPr>
        <p:spPr>
          <a:xfrm>
            <a:off x="1101437" y="1342350"/>
            <a:ext cx="4682834" cy="749686"/>
          </a:xfrm>
        </p:spPr>
        <p:txBody>
          <a:bodyPr>
            <a:normAutofit/>
          </a:bodyPr>
          <a:lstStyle/>
          <a:p>
            <a:r>
              <a:rPr lang="en-US" sz="2700" b="1" dirty="0">
                <a:solidFill>
                  <a:srgbClr val="050061"/>
                </a:solidFill>
                <a:latin typeface="HGGothicE"/>
                <a:ea typeface="HGGothicE"/>
              </a:rPr>
              <a:t>Top Pizza Types by Revenue</a:t>
            </a:r>
            <a:endParaRPr lang="en-US" dirty="0"/>
          </a:p>
        </p:txBody>
      </p:sp>
      <p:pic>
        <p:nvPicPr>
          <p:cNvPr id="5" name="Picture 4" descr="A screen shot of a computer code&#10;&#10;AI-generated content may be incorrect.">
            <a:extLst>
              <a:ext uri="{FF2B5EF4-FFF2-40B4-BE49-F238E27FC236}">
                <a16:creationId xmlns:a16="http://schemas.microsoft.com/office/drawing/2014/main" id="{CB6706B5-A892-4D82-9342-F5273495D351}"/>
              </a:ext>
            </a:extLst>
          </p:cNvPr>
          <p:cNvPicPr>
            <a:picLocks noChangeAspect="1"/>
          </p:cNvPicPr>
          <p:nvPr/>
        </p:nvPicPr>
        <p:blipFill>
          <a:blip r:embed="rId2"/>
          <a:stretch>
            <a:fillRect/>
          </a:stretch>
        </p:blipFill>
        <p:spPr>
          <a:xfrm>
            <a:off x="873162" y="2576873"/>
            <a:ext cx="6049239" cy="3186017"/>
          </a:xfrm>
          <a:prstGeom prst="rect">
            <a:avLst/>
          </a:prstGeom>
        </p:spPr>
      </p:pic>
      <p:pic>
        <p:nvPicPr>
          <p:cNvPr id="7" name="Picture 6" descr="A menu of a restaurant&#10;&#10;AI-generated content may be incorrect.">
            <a:extLst>
              <a:ext uri="{FF2B5EF4-FFF2-40B4-BE49-F238E27FC236}">
                <a16:creationId xmlns:a16="http://schemas.microsoft.com/office/drawing/2014/main" id="{8FBC55CA-8521-C46B-2F9D-1B73AA0E8267}"/>
              </a:ext>
            </a:extLst>
          </p:cNvPr>
          <p:cNvPicPr>
            <a:picLocks noChangeAspect="1"/>
          </p:cNvPicPr>
          <p:nvPr/>
        </p:nvPicPr>
        <p:blipFill>
          <a:blip r:embed="rId3"/>
          <a:stretch>
            <a:fillRect/>
          </a:stretch>
        </p:blipFill>
        <p:spPr>
          <a:xfrm>
            <a:off x="7641050" y="3145235"/>
            <a:ext cx="3314976" cy="2041987"/>
          </a:xfrm>
          <a:prstGeom prst="rect">
            <a:avLst/>
          </a:prstGeom>
        </p:spPr>
      </p:pic>
    </p:spTree>
    <p:extLst>
      <p:ext uri="{BB962C8B-B14F-4D97-AF65-F5344CB8AC3E}">
        <p14:creationId xmlns:p14="http://schemas.microsoft.com/office/powerpoint/2010/main" val="2241896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41533-4CF9-4417-E492-B1882AFBA8D7}"/>
              </a:ext>
            </a:extLst>
          </p:cNvPr>
          <p:cNvSpPr>
            <a:spLocks noGrp="1"/>
          </p:cNvSpPr>
          <p:nvPr>
            <p:ph idx="1"/>
          </p:nvPr>
        </p:nvSpPr>
        <p:spPr>
          <a:xfrm>
            <a:off x="241061" y="1359282"/>
            <a:ext cx="11379797" cy="5165947"/>
          </a:xfrm>
        </p:spPr>
        <p:txBody>
          <a:bodyPr vert="horz" lIns="91440" tIns="45720" rIns="91440" bIns="45720" rtlCol="0" anchor="t">
            <a:normAutofit/>
          </a:bodyPr>
          <a:lstStyle/>
          <a:p>
            <a:pPr marL="0" indent="0">
              <a:buNone/>
            </a:pPr>
            <a:endParaRPr lang="en-US">
              <a:ea typeface="+mn-lt"/>
              <a:cs typeface="+mn-lt"/>
            </a:endParaRPr>
          </a:p>
          <a:p>
            <a:pPr marL="0" indent="0">
              <a:buNone/>
            </a:pPr>
            <a:r>
              <a:rPr lang="en-US"/>
              <a:t>     </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p:txBody>
      </p:sp>
      <p:sp>
        <p:nvSpPr>
          <p:cNvPr id="7" name="TextBox 6">
            <a:extLst>
              <a:ext uri="{FF2B5EF4-FFF2-40B4-BE49-F238E27FC236}">
                <a16:creationId xmlns:a16="http://schemas.microsoft.com/office/drawing/2014/main" id="{A6EB08AE-370C-7F09-68EE-9BB2D8A13F04}"/>
              </a:ext>
            </a:extLst>
          </p:cNvPr>
          <p:cNvSpPr txBox="1"/>
          <p:nvPr/>
        </p:nvSpPr>
        <p:spPr>
          <a:xfrm>
            <a:off x="331228" y="151813"/>
            <a:ext cx="10157699" cy="63899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2" name="Picture 1" descr="A frame of pizza slices&#10;&#10;AI-generated content may be incorrect.">
            <a:extLst>
              <a:ext uri="{FF2B5EF4-FFF2-40B4-BE49-F238E27FC236}">
                <a16:creationId xmlns:a16="http://schemas.microsoft.com/office/drawing/2014/main" id="{9869A679-9F74-B6FF-8C3C-7145A6D7BFBC}"/>
              </a:ext>
            </a:extLst>
          </p:cNvPr>
          <p:cNvPicPr>
            <a:picLocks noChangeAspect="1"/>
          </p:cNvPicPr>
          <p:nvPr/>
        </p:nvPicPr>
        <p:blipFill>
          <a:blip r:embed="rId2"/>
          <a:stretch>
            <a:fillRect/>
          </a:stretch>
        </p:blipFill>
        <p:spPr>
          <a:xfrm>
            <a:off x="0" y="-5603"/>
            <a:ext cx="12192000" cy="6857999"/>
          </a:xfrm>
          <a:prstGeom prst="rect">
            <a:avLst/>
          </a:prstGeom>
        </p:spPr>
      </p:pic>
      <p:sp>
        <p:nvSpPr>
          <p:cNvPr id="4" name="TextBox 3">
            <a:extLst>
              <a:ext uri="{FF2B5EF4-FFF2-40B4-BE49-F238E27FC236}">
                <a16:creationId xmlns:a16="http://schemas.microsoft.com/office/drawing/2014/main" id="{D22F6070-8AB2-D1ED-F08F-333469226C2A}"/>
              </a:ext>
            </a:extLst>
          </p:cNvPr>
          <p:cNvSpPr txBox="1"/>
          <p:nvPr/>
        </p:nvSpPr>
        <p:spPr>
          <a:xfrm>
            <a:off x="2716811" y="770230"/>
            <a:ext cx="7352194" cy="49994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6" name="TextBox 5">
            <a:extLst>
              <a:ext uri="{FF2B5EF4-FFF2-40B4-BE49-F238E27FC236}">
                <a16:creationId xmlns:a16="http://schemas.microsoft.com/office/drawing/2014/main" id="{C88CC979-F3D4-FF13-B477-8B14988BB56F}"/>
              </a:ext>
            </a:extLst>
          </p:cNvPr>
          <p:cNvSpPr txBox="1"/>
          <p:nvPr/>
        </p:nvSpPr>
        <p:spPr>
          <a:xfrm>
            <a:off x="2717068" y="676260"/>
            <a:ext cx="9248590"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rgbClr val="C00000"/>
                </a:solidFill>
                <a:latin typeface="Comic Sans MS"/>
                <a:ea typeface="+mn-lt"/>
                <a:cs typeface="+mn-lt"/>
              </a:rPr>
              <a:t>INSIGHTS</a:t>
            </a:r>
          </a:p>
          <a:p>
            <a:pPr marL="285750" indent="-285750">
              <a:buFont typeface="Arial"/>
              <a:buChar char="•"/>
            </a:pPr>
            <a:endParaRPr lang="en-US" dirty="0">
              <a:ea typeface="+mn-lt"/>
              <a:cs typeface="+mn-lt"/>
            </a:endParaRPr>
          </a:p>
          <a:p>
            <a:pPr marL="285750" indent="-285750">
              <a:buFont typeface="Arial"/>
              <a:buChar char="•"/>
            </a:pPr>
            <a:r>
              <a:rPr lang="en-US" dirty="0">
                <a:solidFill>
                  <a:srgbClr val="614900"/>
                </a:solidFill>
                <a:ea typeface="+mn-lt"/>
                <a:cs typeface="+mn-lt"/>
              </a:rPr>
              <a:t>There are four categories of pizza – </a:t>
            </a:r>
            <a:r>
              <a:rPr lang="en-US" err="1">
                <a:solidFill>
                  <a:srgbClr val="614900"/>
                </a:solidFill>
                <a:ea typeface="+mn-lt"/>
                <a:cs typeface="+mn-lt"/>
              </a:rPr>
              <a:t>Classic,Veggie,Supreme</a:t>
            </a:r>
            <a:r>
              <a:rPr lang="en-US" dirty="0">
                <a:solidFill>
                  <a:srgbClr val="614900"/>
                </a:solidFill>
                <a:ea typeface="+mn-lt"/>
                <a:cs typeface="+mn-lt"/>
              </a:rPr>
              <a:t> and Chicken. Among all,</a:t>
            </a:r>
            <a:endParaRPr lang="en-US">
              <a:solidFill>
                <a:srgbClr val="614900"/>
              </a:solidFill>
            </a:endParaRPr>
          </a:p>
          <a:p>
            <a:r>
              <a:rPr lang="en-US" dirty="0">
                <a:solidFill>
                  <a:srgbClr val="614900"/>
                </a:solidFill>
                <a:ea typeface="+mn-lt"/>
                <a:cs typeface="+mn-lt"/>
              </a:rPr>
              <a:t>the Classic category dominates  the quantity sold(14,888)  </a:t>
            </a:r>
            <a:endParaRPr lang="en-US" dirty="0">
              <a:solidFill>
                <a:srgbClr val="614900"/>
              </a:solidFill>
            </a:endParaRPr>
          </a:p>
          <a:p>
            <a:endParaRPr lang="en-US" dirty="0">
              <a:solidFill>
                <a:srgbClr val="614900"/>
              </a:solidFill>
              <a:ea typeface="+mn-lt"/>
              <a:cs typeface="+mn-lt"/>
            </a:endParaRPr>
          </a:p>
          <a:p>
            <a:pPr marL="285750" indent="-285750">
              <a:buFont typeface="Arial"/>
              <a:buChar char="•"/>
            </a:pPr>
            <a:r>
              <a:rPr lang="en-US" dirty="0">
                <a:solidFill>
                  <a:srgbClr val="614900"/>
                </a:solidFill>
                <a:ea typeface="+mn-lt"/>
                <a:cs typeface="+mn-lt"/>
              </a:rPr>
              <a:t>The Average Daily Pizzas Sold is 138 </a:t>
            </a:r>
          </a:p>
          <a:p>
            <a:endParaRPr lang="en-US" dirty="0">
              <a:solidFill>
                <a:srgbClr val="614900"/>
              </a:solidFill>
              <a:ea typeface="+mn-lt"/>
              <a:cs typeface="+mn-lt"/>
            </a:endParaRPr>
          </a:p>
          <a:p>
            <a:pPr marL="285750" indent="-285750">
              <a:buFont typeface="Arial"/>
              <a:buChar char="•"/>
            </a:pPr>
            <a:r>
              <a:rPr lang="en-US" dirty="0">
                <a:solidFill>
                  <a:srgbClr val="614900"/>
                </a:solidFill>
                <a:ea typeface="+mn-lt"/>
                <a:cs typeface="+mn-lt"/>
              </a:rPr>
              <a:t>The business experiences a significant lunchtime rush and an even more pronounced dinner peak. </a:t>
            </a:r>
            <a:endParaRPr lang="en-US">
              <a:solidFill>
                <a:srgbClr val="614900"/>
              </a:solidFill>
            </a:endParaRPr>
          </a:p>
          <a:p>
            <a:r>
              <a:rPr lang="en-US" dirty="0">
                <a:solidFill>
                  <a:srgbClr val="614900"/>
                </a:solidFill>
                <a:ea typeface="+mn-lt"/>
                <a:cs typeface="+mn-lt"/>
              </a:rPr>
              <a:t>     Peak Ordering Hours :Lunch Rush-12 PM (2,520 orders) and 1 PM (2,455 orders) </a:t>
            </a:r>
            <a:endParaRPr lang="en-US">
              <a:solidFill>
                <a:srgbClr val="614900"/>
              </a:solidFill>
            </a:endParaRPr>
          </a:p>
          <a:p>
            <a:r>
              <a:rPr lang="en-US" dirty="0">
                <a:solidFill>
                  <a:srgbClr val="614900"/>
                </a:solidFill>
                <a:ea typeface="+mn-lt"/>
                <a:cs typeface="+mn-lt"/>
              </a:rPr>
              <a:t>     Dinner Peak: 6 PM (1,920 orders), 7 PM (2,336 orders) and 8 PM (2,399 orders).  </a:t>
            </a:r>
          </a:p>
          <a:p>
            <a:endParaRPr lang="en-US" dirty="0">
              <a:solidFill>
                <a:srgbClr val="614900"/>
              </a:solidFill>
              <a:ea typeface="+mn-lt"/>
              <a:cs typeface="+mn-lt"/>
            </a:endParaRPr>
          </a:p>
          <a:p>
            <a:pPr marL="285750" indent="-285750">
              <a:buFont typeface="Arial"/>
              <a:buChar char="•"/>
            </a:pPr>
            <a:r>
              <a:rPr lang="en-US" dirty="0">
                <a:solidFill>
                  <a:srgbClr val="614900"/>
                </a:solidFill>
                <a:ea typeface="+mn-lt"/>
                <a:cs typeface="+mn-lt"/>
              </a:rPr>
              <a:t>  The Top 3 Pizzas by Revenue is  Thai Chicken Pizza - $43,434.25, The Barbecue Chicken Pizza -$42,768.00, The California Chicken Pizza - $41,409.50 The total revenue generated by the top three pizzas  is $127,611.75.</a:t>
            </a:r>
            <a:endParaRPr lang="en-US">
              <a:solidFill>
                <a:srgbClr val="614900"/>
              </a:solidFill>
            </a:endParaRPr>
          </a:p>
        </p:txBody>
      </p:sp>
    </p:spTree>
    <p:extLst>
      <p:ext uri="{BB962C8B-B14F-4D97-AF65-F5344CB8AC3E}">
        <p14:creationId xmlns:p14="http://schemas.microsoft.com/office/powerpoint/2010/main" val="2061261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39DD-39B0-D0AE-DD35-F45A17D40840}"/>
              </a:ext>
            </a:extLst>
          </p:cNvPr>
          <p:cNvSpPr>
            <a:spLocks noGrp="1"/>
          </p:cNvSpPr>
          <p:nvPr>
            <p:ph type="title"/>
          </p:nvPr>
        </p:nvSpPr>
        <p:spPr>
          <a:xfrm>
            <a:off x="587468" y="647104"/>
            <a:ext cx="11089420" cy="737257"/>
          </a:xfrm>
        </p:spPr>
        <p:txBody>
          <a:bodyPr>
            <a:normAutofit fontScale="90000"/>
          </a:bodyPr>
          <a:lstStyle/>
          <a:p>
            <a:r>
              <a:rPr lang="en-US">
                <a:solidFill>
                  <a:srgbClr val="C00000"/>
                </a:solidFill>
                <a:latin typeface="Comic Sans MS"/>
              </a:rPr>
              <a:t>ADVANCED ANALYSIS</a:t>
            </a:r>
          </a:p>
        </p:txBody>
      </p:sp>
      <p:sp>
        <p:nvSpPr>
          <p:cNvPr id="3" name="Content Placeholder 2">
            <a:extLst>
              <a:ext uri="{FF2B5EF4-FFF2-40B4-BE49-F238E27FC236}">
                <a16:creationId xmlns:a16="http://schemas.microsoft.com/office/drawing/2014/main" id="{663863E8-AEF2-84FD-A90A-9B499BEC4DB1}"/>
              </a:ext>
            </a:extLst>
          </p:cNvPr>
          <p:cNvSpPr>
            <a:spLocks noGrp="1"/>
          </p:cNvSpPr>
          <p:nvPr>
            <p:ph idx="1"/>
          </p:nvPr>
        </p:nvSpPr>
        <p:spPr>
          <a:xfrm>
            <a:off x="576425" y="1373409"/>
            <a:ext cx="11100463" cy="4961484"/>
          </a:xfrm>
        </p:spPr>
        <p:txBody>
          <a:bodyPr vert="horz" lIns="91440" tIns="45720" rIns="91440" bIns="45720" rtlCol="0" anchor="t">
            <a:normAutofit/>
          </a:bodyPr>
          <a:lstStyle/>
          <a:p>
            <a:pPr marL="0" indent="0">
              <a:buNone/>
            </a:pPr>
            <a:r>
              <a:rPr lang="en-US" b="1">
                <a:solidFill>
                  <a:srgbClr val="050061"/>
                </a:solidFill>
                <a:latin typeface="HGGothicE"/>
                <a:ea typeface="+mn-lt"/>
                <a:cs typeface="+mn-lt"/>
              </a:rPr>
              <a:t>Revenue Contribution by Pizza Type </a:t>
            </a:r>
          </a:p>
          <a:p>
            <a:pPr marL="0" indent="0">
              <a:buNone/>
            </a:pPr>
            <a:endParaRPr lang="en-US" b="1">
              <a:solidFill>
                <a:srgbClr val="050061"/>
              </a:solidFill>
              <a:latin typeface="HGGothicE"/>
            </a:endParaRPr>
          </a:p>
          <a:p>
            <a:pPr marL="0" indent="0">
              <a:buNone/>
            </a:pPr>
            <a:endParaRPr lang="en-US" b="1">
              <a:solidFill>
                <a:srgbClr val="050061"/>
              </a:solidFill>
              <a:latin typeface="HGGothicE"/>
            </a:endParaRPr>
          </a:p>
          <a:p>
            <a:pPr marL="0" indent="0">
              <a:buNone/>
            </a:pPr>
            <a:endParaRPr lang="en-US" b="1">
              <a:solidFill>
                <a:srgbClr val="050061"/>
              </a:solidFill>
              <a:latin typeface="HGGothicE"/>
              <a:ea typeface="HGGothicE"/>
            </a:endParaRPr>
          </a:p>
        </p:txBody>
      </p:sp>
      <p:pic>
        <p:nvPicPr>
          <p:cNvPr id="4" name="Picture 3">
            <a:extLst>
              <a:ext uri="{FF2B5EF4-FFF2-40B4-BE49-F238E27FC236}">
                <a16:creationId xmlns:a16="http://schemas.microsoft.com/office/drawing/2014/main" id="{E10DDE63-628C-5DFE-5DA5-5559F5342DD1}"/>
              </a:ext>
            </a:extLst>
          </p:cNvPr>
          <p:cNvPicPr>
            <a:picLocks noChangeAspect="1"/>
          </p:cNvPicPr>
          <p:nvPr/>
        </p:nvPicPr>
        <p:blipFill>
          <a:blip r:embed="rId2"/>
          <a:stretch>
            <a:fillRect/>
          </a:stretch>
        </p:blipFill>
        <p:spPr>
          <a:xfrm>
            <a:off x="604837" y="1857307"/>
            <a:ext cx="4886325" cy="2657475"/>
          </a:xfrm>
          <a:prstGeom prst="rect">
            <a:avLst/>
          </a:prstGeom>
        </p:spPr>
      </p:pic>
      <p:pic>
        <p:nvPicPr>
          <p:cNvPr id="5" name="Picture 4" descr="A screenshot of a computer code&#10;&#10;AI-generated content may be incorrect.">
            <a:extLst>
              <a:ext uri="{FF2B5EF4-FFF2-40B4-BE49-F238E27FC236}">
                <a16:creationId xmlns:a16="http://schemas.microsoft.com/office/drawing/2014/main" id="{797FB8DE-FAED-DEA9-81D8-A882C100DA71}"/>
              </a:ext>
            </a:extLst>
          </p:cNvPr>
          <p:cNvPicPr>
            <a:picLocks noChangeAspect="1"/>
          </p:cNvPicPr>
          <p:nvPr/>
        </p:nvPicPr>
        <p:blipFill>
          <a:blip r:embed="rId3"/>
          <a:stretch>
            <a:fillRect/>
          </a:stretch>
        </p:blipFill>
        <p:spPr>
          <a:xfrm>
            <a:off x="604838" y="4524144"/>
            <a:ext cx="3162300" cy="1581150"/>
          </a:xfrm>
          <a:prstGeom prst="rect">
            <a:avLst/>
          </a:prstGeom>
        </p:spPr>
      </p:pic>
      <p:pic>
        <p:nvPicPr>
          <p:cNvPr id="6" name="Picture 5" descr="A screenshot of a table&#10;&#10;AI-generated content may be incorrect.">
            <a:extLst>
              <a:ext uri="{FF2B5EF4-FFF2-40B4-BE49-F238E27FC236}">
                <a16:creationId xmlns:a16="http://schemas.microsoft.com/office/drawing/2014/main" id="{10D2F8FA-8B7F-04F6-8414-70C81AB3B54E}"/>
              </a:ext>
            </a:extLst>
          </p:cNvPr>
          <p:cNvPicPr>
            <a:picLocks noChangeAspect="1"/>
          </p:cNvPicPr>
          <p:nvPr/>
        </p:nvPicPr>
        <p:blipFill>
          <a:blip r:embed="rId4"/>
          <a:stretch>
            <a:fillRect/>
          </a:stretch>
        </p:blipFill>
        <p:spPr>
          <a:xfrm>
            <a:off x="6745941" y="2299727"/>
            <a:ext cx="4706470" cy="3356721"/>
          </a:xfrm>
          <a:prstGeom prst="rect">
            <a:avLst/>
          </a:prstGeom>
        </p:spPr>
      </p:pic>
    </p:spTree>
    <p:extLst>
      <p:ext uri="{BB962C8B-B14F-4D97-AF65-F5344CB8AC3E}">
        <p14:creationId xmlns:p14="http://schemas.microsoft.com/office/powerpoint/2010/main" val="3993557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64D228-1958-1F0B-D91E-1EDEC00575F3}"/>
              </a:ext>
            </a:extLst>
          </p:cNvPr>
          <p:cNvSpPr>
            <a:spLocks noGrp="1"/>
          </p:cNvSpPr>
          <p:nvPr>
            <p:ph idx="1"/>
          </p:nvPr>
        </p:nvSpPr>
        <p:spPr>
          <a:xfrm>
            <a:off x="521208" y="841697"/>
            <a:ext cx="11155680" cy="5504239"/>
          </a:xfrm>
        </p:spPr>
        <p:txBody>
          <a:bodyPr vert="horz" lIns="91440" tIns="45720" rIns="91440" bIns="45720" rtlCol="0" anchor="t">
            <a:normAutofit/>
          </a:bodyPr>
          <a:lstStyle/>
          <a:p>
            <a:pPr marL="0" indent="0">
              <a:buNone/>
            </a:pPr>
            <a:r>
              <a:rPr lang="en-US" b="1">
                <a:solidFill>
                  <a:srgbClr val="050061"/>
                </a:solidFill>
                <a:latin typeface="HGGothicE"/>
                <a:ea typeface="+mn-lt"/>
                <a:cs typeface="+mn-lt"/>
              </a:rPr>
              <a:t>Cumulative Revenue Over Time</a:t>
            </a:r>
          </a:p>
          <a:p>
            <a:pPr marL="0" indent="0">
              <a:buNone/>
            </a:pPr>
            <a:endParaRPr lang="en-US" b="1">
              <a:solidFill>
                <a:srgbClr val="050061"/>
              </a:solidFill>
              <a:latin typeface="HGGothicE"/>
            </a:endParaRPr>
          </a:p>
        </p:txBody>
      </p:sp>
      <p:pic>
        <p:nvPicPr>
          <p:cNvPr id="5" name="Picture 4" descr="A screenshot of a computer&#10;&#10;AI-generated content may be incorrect.">
            <a:extLst>
              <a:ext uri="{FF2B5EF4-FFF2-40B4-BE49-F238E27FC236}">
                <a16:creationId xmlns:a16="http://schemas.microsoft.com/office/drawing/2014/main" id="{F0FCDE84-E7A9-84D1-61FF-171CEB22AD6D}"/>
              </a:ext>
            </a:extLst>
          </p:cNvPr>
          <p:cNvPicPr>
            <a:picLocks noChangeAspect="1"/>
          </p:cNvPicPr>
          <p:nvPr/>
        </p:nvPicPr>
        <p:blipFill>
          <a:blip r:embed="rId2"/>
          <a:stretch>
            <a:fillRect/>
          </a:stretch>
        </p:blipFill>
        <p:spPr>
          <a:xfrm>
            <a:off x="7984751" y="1743356"/>
            <a:ext cx="3022226" cy="3370728"/>
          </a:xfrm>
          <a:prstGeom prst="rect">
            <a:avLst/>
          </a:prstGeom>
        </p:spPr>
      </p:pic>
      <p:pic>
        <p:nvPicPr>
          <p:cNvPr id="6" name="Picture 5">
            <a:extLst>
              <a:ext uri="{FF2B5EF4-FFF2-40B4-BE49-F238E27FC236}">
                <a16:creationId xmlns:a16="http://schemas.microsoft.com/office/drawing/2014/main" id="{82E9981E-7E63-9C9E-6F81-E10BF19080A7}"/>
              </a:ext>
            </a:extLst>
          </p:cNvPr>
          <p:cNvPicPr>
            <a:picLocks noChangeAspect="1"/>
          </p:cNvPicPr>
          <p:nvPr/>
        </p:nvPicPr>
        <p:blipFill>
          <a:blip r:embed="rId3"/>
          <a:stretch>
            <a:fillRect/>
          </a:stretch>
        </p:blipFill>
        <p:spPr>
          <a:xfrm>
            <a:off x="627529" y="1954866"/>
            <a:ext cx="5591735" cy="3262031"/>
          </a:xfrm>
          <a:prstGeom prst="rect">
            <a:avLst/>
          </a:prstGeom>
        </p:spPr>
      </p:pic>
    </p:spTree>
    <p:extLst>
      <p:ext uri="{BB962C8B-B14F-4D97-AF65-F5344CB8AC3E}">
        <p14:creationId xmlns:p14="http://schemas.microsoft.com/office/powerpoint/2010/main" val="1915332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21A6C9-D9D5-CFDB-BC05-9FD04E0B99E1}"/>
              </a:ext>
            </a:extLst>
          </p:cNvPr>
          <p:cNvSpPr>
            <a:spLocks noGrp="1"/>
          </p:cNvSpPr>
          <p:nvPr>
            <p:ph idx="1"/>
          </p:nvPr>
        </p:nvSpPr>
        <p:spPr>
          <a:xfrm>
            <a:off x="521208" y="855826"/>
            <a:ext cx="11155680" cy="5490110"/>
          </a:xfrm>
        </p:spPr>
        <p:txBody>
          <a:bodyPr vert="horz" lIns="91440" tIns="45720" rIns="91440" bIns="45720" rtlCol="0" anchor="t">
            <a:normAutofit/>
          </a:bodyPr>
          <a:lstStyle/>
          <a:p>
            <a:pPr marL="0" indent="0">
              <a:buNone/>
            </a:pPr>
            <a:r>
              <a:rPr lang="en-US" b="1">
                <a:solidFill>
                  <a:srgbClr val="050061"/>
                </a:solidFill>
                <a:latin typeface="HGGothicE"/>
                <a:ea typeface="+mn-lt"/>
                <a:cs typeface="+mn-lt"/>
              </a:rPr>
              <a:t>Top 3 Pizza Types by Revenue in Each Category</a:t>
            </a:r>
          </a:p>
          <a:p>
            <a:pPr marL="0" indent="0">
              <a:buNone/>
            </a:pPr>
            <a:endParaRPr lang="en-US" b="1">
              <a:solidFill>
                <a:srgbClr val="050061"/>
              </a:solidFill>
              <a:latin typeface="HGGothicE"/>
              <a:ea typeface="+mn-lt"/>
              <a:cs typeface="+mn-lt"/>
            </a:endParaRPr>
          </a:p>
        </p:txBody>
      </p:sp>
      <p:pic>
        <p:nvPicPr>
          <p:cNvPr id="6" name="Picture 5" descr="A computer screen shot of a code&#10;&#10;AI-generated content may be incorrect.">
            <a:extLst>
              <a:ext uri="{FF2B5EF4-FFF2-40B4-BE49-F238E27FC236}">
                <a16:creationId xmlns:a16="http://schemas.microsoft.com/office/drawing/2014/main" id="{65644623-2440-0951-DA0E-EC22A762785E}"/>
              </a:ext>
            </a:extLst>
          </p:cNvPr>
          <p:cNvPicPr>
            <a:picLocks noChangeAspect="1"/>
          </p:cNvPicPr>
          <p:nvPr/>
        </p:nvPicPr>
        <p:blipFill>
          <a:blip r:embed="rId2"/>
          <a:stretch>
            <a:fillRect/>
          </a:stretch>
        </p:blipFill>
        <p:spPr>
          <a:xfrm>
            <a:off x="519802" y="1335709"/>
            <a:ext cx="5343525" cy="2099366"/>
          </a:xfrm>
          <a:prstGeom prst="rect">
            <a:avLst/>
          </a:prstGeom>
        </p:spPr>
      </p:pic>
      <p:pic>
        <p:nvPicPr>
          <p:cNvPr id="7" name="Picture 6">
            <a:extLst>
              <a:ext uri="{FF2B5EF4-FFF2-40B4-BE49-F238E27FC236}">
                <a16:creationId xmlns:a16="http://schemas.microsoft.com/office/drawing/2014/main" id="{49274C9A-3D3C-1D6D-3538-CDB7BA642069}"/>
              </a:ext>
            </a:extLst>
          </p:cNvPr>
          <p:cNvPicPr>
            <a:picLocks noChangeAspect="1"/>
          </p:cNvPicPr>
          <p:nvPr/>
        </p:nvPicPr>
        <p:blipFill>
          <a:blip r:embed="rId3"/>
          <a:stretch>
            <a:fillRect/>
          </a:stretch>
        </p:blipFill>
        <p:spPr>
          <a:xfrm>
            <a:off x="3614737" y="2133600"/>
            <a:ext cx="9525" cy="28575"/>
          </a:xfrm>
          <a:prstGeom prst="rect">
            <a:avLst/>
          </a:prstGeom>
        </p:spPr>
      </p:pic>
      <p:pic>
        <p:nvPicPr>
          <p:cNvPr id="8" name="Picture 7" descr="A screen shot of a computer program&#10;&#10;AI-generated content may be incorrect.">
            <a:extLst>
              <a:ext uri="{FF2B5EF4-FFF2-40B4-BE49-F238E27FC236}">
                <a16:creationId xmlns:a16="http://schemas.microsoft.com/office/drawing/2014/main" id="{618C4534-28BA-C407-3F14-2713A8CA31C4}"/>
              </a:ext>
            </a:extLst>
          </p:cNvPr>
          <p:cNvPicPr>
            <a:picLocks noChangeAspect="1"/>
          </p:cNvPicPr>
          <p:nvPr/>
        </p:nvPicPr>
        <p:blipFill>
          <a:blip r:embed="rId4"/>
          <a:stretch>
            <a:fillRect/>
          </a:stretch>
        </p:blipFill>
        <p:spPr>
          <a:xfrm>
            <a:off x="525324" y="3461579"/>
            <a:ext cx="4036667" cy="1739071"/>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3D26B9D8-4443-41F2-47FE-0622E6C1AF27}"/>
              </a:ext>
            </a:extLst>
          </p:cNvPr>
          <p:cNvPicPr>
            <a:picLocks noChangeAspect="1"/>
          </p:cNvPicPr>
          <p:nvPr/>
        </p:nvPicPr>
        <p:blipFill>
          <a:blip r:embed="rId5"/>
          <a:stretch>
            <a:fillRect/>
          </a:stretch>
        </p:blipFill>
        <p:spPr>
          <a:xfrm>
            <a:off x="528085" y="5209209"/>
            <a:ext cx="3725655" cy="1162465"/>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4426B7D9-0D17-4397-5F07-3D5FF8D39E21}"/>
              </a:ext>
            </a:extLst>
          </p:cNvPr>
          <p:cNvPicPr>
            <a:picLocks noChangeAspect="1"/>
          </p:cNvPicPr>
          <p:nvPr/>
        </p:nvPicPr>
        <p:blipFill>
          <a:blip r:embed="rId6"/>
          <a:stretch>
            <a:fillRect/>
          </a:stretch>
        </p:blipFill>
        <p:spPr>
          <a:xfrm>
            <a:off x="7218432" y="1819207"/>
            <a:ext cx="3994702" cy="3230630"/>
          </a:xfrm>
          <a:prstGeom prst="rect">
            <a:avLst/>
          </a:prstGeom>
        </p:spPr>
      </p:pic>
    </p:spTree>
    <p:extLst>
      <p:ext uri="{BB962C8B-B14F-4D97-AF65-F5344CB8AC3E}">
        <p14:creationId xmlns:p14="http://schemas.microsoft.com/office/powerpoint/2010/main" val="4271359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artoon pizzas on a blue background&#10;&#10;AI-generated content may be incorrect.">
            <a:extLst>
              <a:ext uri="{FF2B5EF4-FFF2-40B4-BE49-F238E27FC236}">
                <a16:creationId xmlns:a16="http://schemas.microsoft.com/office/drawing/2014/main" id="{D81DA6E6-9108-C063-A026-BB03DFA96F01}"/>
              </a:ext>
            </a:extLst>
          </p:cNvPr>
          <p:cNvPicPr>
            <a:picLocks noChangeAspect="1"/>
          </p:cNvPicPr>
          <p:nvPr/>
        </p:nvPicPr>
        <p:blipFill>
          <a:blip r:embed="rId2"/>
          <a:stretch>
            <a:fillRect/>
          </a:stretch>
        </p:blipFill>
        <p:spPr>
          <a:xfrm>
            <a:off x="-4482" y="-1121"/>
            <a:ext cx="12200963" cy="6860241"/>
          </a:xfrm>
          <a:prstGeom prst="rect">
            <a:avLst/>
          </a:prstGeom>
        </p:spPr>
      </p:pic>
      <p:sp>
        <p:nvSpPr>
          <p:cNvPr id="11" name="TextBox 10">
            <a:extLst>
              <a:ext uri="{FF2B5EF4-FFF2-40B4-BE49-F238E27FC236}">
                <a16:creationId xmlns:a16="http://schemas.microsoft.com/office/drawing/2014/main" id="{2ACB7FA3-7AC8-A5C5-1911-5C693DDF0270}"/>
              </a:ext>
            </a:extLst>
          </p:cNvPr>
          <p:cNvSpPr txBox="1"/>
          <p:nvPr/>
        </p:nvSpPr>
        <p:spPr>
          <a:xfrm>
            <a:off x="1806513" y="431306"/>
            <a:ext cx="6985795" cy="45550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1">
                    <a:lumMod val="76000"/>
                  </a:schemeClr>
                </a:solidFill>
                <a:latin typeface="Comic Sans MS"/>
                <a:ea typeface="+mn-lt"/>
                <a:cs typeface="+mn-lt"/>
              </a:rPr>
              <a:t>INSIGHTS </a:t>
            </a:r>
            <a:endParaRPr lang="en-US" sz="3200" dirty="0">
              <a:solidFill>
                <a:schemeClr val="accent1">
                  <a:lumMod val="76000"/>
                </a:schemeClr>
              </a:solidFill>
              <a:latin typeface="Comic Sans MS"/>
            </a:endParaRPr>
          </a:p>
          <a:p>
            <a:endParaRPr lang="en-US"/>
          </a:p>
          <a:p>
            <a:pPr marL="285750" indent="-285750">
              <a:buFont typeface="Arial"/>
              <a:buChar char="•"/>
            </a:pPr>
            <a:r>
              <a:rPr lang="en-US" sz="2000" dirty="0">
                <a:solidFill>
                  <a:schemeClr val="accent5">
                    <a:lumMod val="76000"/>
                  </a:schemeClr>
                </a:solidFill>
                <a:ea typeface="+mn-lt"/>
                <a:cs typeface="+mn-lt"/>
              </a:rPr>
              <a:t>The top three pizzas are all Chicken variants—are highly profitable, generating over 15.6% of the total</a:t>
            </a:r>
            <a:endParaRPr lang="en-US" sz="2000" dirty="0">
              <a:solidFill>
                <a:schemeClr val="accent5">
                  <a:lumMod val="76000"/>
                </a:schemeClr>
              </a:solidFill>
            </a:endParaRPr>
          </a:p>
          <a:p>
            <a:r>
              <a:rPr lang="en-US" sz="2000" dirty="0">
                <a:solidFill>
                  <a:schemeClr val="accent5">
                    <a:lumMod val="76000"/>
                  </a:schemeClr>
                </a:solidFill>
                <a:ea typeface="+mn-lt"/>
                <a:cs typeface="+mn-lt"/>
              </a:rPr>
              <a:t>revenue alone. </a:t>
            </a:r>
            <a:endParaRPr lang="en-US" sz="2000" dirty="0">
              <a:solidFill>
                <a:schemeClr val="accent5">
                  <a:lumMod val="76000"/>
                </a:schemeClr>
              </a:solidFill>
            </a:endParaRPr>
          </a:p>
          <a:p>
            <a:endParaRPr lang="en-US" sz="2000" dirty="0">
              <a:solidFill>
                <a:schemeClr val="accent5">
                  <a:lumMod val="76000"/>
                </a:schemeClr>
              </a:solidFill>
              <a:ea typeface="+mn-lt"/>
              <a:cs typeface="+mn-lt"/>
            </a:endParaRPr>
          </a:p>
          <a:p>
            <a:pPr marL="285750" indent="-285750">
              <a:buFont typeface="Arial"/>
              <a:buChar char="•"/>
            </a:pPr>
            <a:r>
              <a:rPr lang="en-US" sz="2000" dirty="0">
                <a:solidFill>
                  <a:schemeClr val="accent5">
                    <a:lumMod val="76000"/>
                  </a:schemeClr>
                </a:solidFill>
                <a:ea typeface="+mn-lt"/>
                <a:cs typeface="+mn-lt"/>
              </a:rPr>
              <a:t>The Revenue Growth is consistent and strong daily. Tracking this daily cumulative revenue is essential for understanding the overall financial momentum and setting long-term growth targets. </a:t>
            </a:r>
            <a:endParaRPr lang="en-US" sz="2000" dirty="0">
              <a:solidFill>
                <a:schemeClr val="accent5">
                  <a:lumMod val="76000"/>
                </a:schemeClr>
              </a:solidFill>
            </a:endParaRPr>
          </a:p>
          <a:p>
            <a:endParaRPr lang="en-US" sz="2000" dirty="0">
              <a:solidFill>
                <a:schemeClr val="accent5">
                  <a:lumMod val="76000"/>
                </a:schemeClr>
              </a:solidFill>
            </a:endParaRPr>
          </a:p>
          <a:p>
            <a:pPr marL="285750" indent="-285750">
              <a:buFont typeface="Arial"/>
              <a:buChar char="•"/>
            </a:pPr>
            <a:r>
              <a:rPr lang="en-US" sz="2000" dirty="0">
                <a:solidFill>
                  <a:schemeClr val="accent5">
                    <a:lumMod val="76000"/>
                  </a:schemeClr>
                </a:solidFill>
                <a:ea typeface="+mn-lt"/>
                <a:cs typeface="+mn-lt"/>
              </a:rPr>
              <a:t>Top 3 revenue-generating pizzas within each of the four categories, confirming the high value of the Chicken category, which includes the top overall pizza. </a:t>
            </a:r>
            <a:endParaRPr lang="en-US" sz="2000" dirty="0">
              <a:solidFill>
                <a:schemeClr val="accent5">
                  <a:lumMod val="76000"/>
                </a:schemeClr>
              </a:solidFill>
            </a:endParaRPr>
          </a:p>
        </p:txBody>
      </p:sp>
    </p:spTree>
    <p:extLst>
      <p:ext uri="{BB962C8B-B14F-4D97-AF65-F5344CB8AC3E}">
        <p14:creationId xmlns:p14="http://schemas.microsoft.com/office/powerpoint/2010/main" val="979899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1B68-7B08-945E-CCFC-EA1316978591}"/>
              </a:ext>
            </a:extLst>
          </p:cNvPr>
          <p:cNvSpPr>
            <a:spLocks noGrp="1"/>
          </p:cNvSpPr>
          <p:nvPr>
            <p:ph type="title"/>
          </p:nvPr>
        </p:nvSpPr>
        <p:spPr>
          <a:xfrm>
            <a:off x="521208" y="978408"/>
            <a:ext cx="11155680" cy="723452"/>
          </a:xfrm>
        </p:spPr>
        <p:txBody>
          <a:bodyPr>
            <a:normAutofit fontScale="90000"/>
          </a:bodyPr>
          <a:lstStyle/>
          <a:p>
            <a:r>
              <a:rPr lang="en-US" dirty="0">
                <a:solidFill>
                  <a:schemeClr val="accent3">
                    <a:lumMod val="49000"/>
                  </a:schemeClr>
                </a:solidFill>
              </a:rPr>
              <a:t>Recommendations</a:t>
            </a:r>
          </a:p>
        </p:txBody>
      </p:sp>
      <p:sp>
        <p:nvSpPr>
          <p:cNvPr id="3" name="Content Placeholder 2">
            <a:extLst>
              <a:ext uri="{FF2B5EF4-FFF2-40B4-BE49-F238E27FC236}">
                <a16:creationId xmlns:a16="http://schemas.microsoft.com/office/drawing/2014/main" id="{5D125BD8-941D-0C2A-0369-37D9B0556D55}"/>
              </a:ext>
            </a:extLst>
          </p:cNvPr>
          <p:cNvSpPr>
            <a:spLocks noGrp="1"/>
          </p:cNvSpPr>
          <p:nvPr>
            <p:ph idx="1"/>
          </p:nvPr>
        </p:nvSpPr>
        <p:spPr>
          <a:xfrm>
            <a:off x="521208" y="1704551"/>
            <a:ext cx="8309387" cy="4641385"/>
          </a:xfrm>
        </p:spPr>
        <p:txBody>
          <a:bodyPr vert="horz" lIns="91440" tIns="45720" rIns="91440" bIns="45720" rtlCol="0" anchor="b">
            <a:normAutofit/>
          </a:bodyPr>
          <a:lstStyle/>
          <a:p>
            <a:pPr algn="just"/>
            <a:r>
              <a:rPr lang="en-US" sz="1800" dirty="0">
                <a:solidFill>
                  <a:srgbClr val="C00000"/>
                </a:solidFill>
                <a:latin typeface="Times New Roman"/>
                <a:cs typeface="Times New Roman"/>
              </a:rPr>
              <a:t>Maintain or slightly increase the price point of these premium items, as their high revenue contribution suggests they can sustain a higher margin despite lower overall volume.</a:t>
            </a:r>
          </a:p>
          <a:p>
            <a:pPr algn="just"/>
            <a:r>
              <a:rPr lang="en-US" sz="1800" dirty="0">
                <a:solidFill>
                  <a:srgbClr val="C00000"/>
                </a:solidFill>
                <a:latin typeface="Times New Roman"/>
                <a:cs typeface="Times New Roman"/>
              </a:rPr>
              <a:t>Explore introducing new, high-margin, specialty Chicken items to further capture revenue from customers willing to pay a premium for unique flavors.</a:t>
            </a:r>
          </a:p>
          <a:p>
            <a:pPr algn="just"/>
            <a:r>
              <a:rPr lang="en-US" sz="1800" dirty="0">
                <a:solidFill>
                  <a:srgbClr val="C00000"/>
                </a:solidFill>
                <a:latin typeface="Times New Roman"/>
                <a:cs typeface="Times New Roman"/>
              </a:rPr>
              <a:t>Implement a scheduling model that significantly increases kitchen and delivery staff starting 1 hour before the peak rush periods.</a:t>
            </a:r>
          </a:p>
          <a:p>
            <a:pPr algn="just"/>
            <a:r>
              <a:rPr lang="en-US" sz="1800" dirty="0">
                <a:solidFill>
                  <a:srgbClr val="C00000"/>
                </a:solidFill>
                <a:latin typeface="Times New Roman"/>
                <a:cs typeface="Times New Roman"/>
              </a:rPr>
              <a:t>Pre-prep core ingredients required for the best-selling Classic and Large-size pizzas during off-peak hours to ensure rapid assembly during the rush, maintaining high customer satisfaction.</a:t>
            </a:r>
          </a:p>
          <a:p>
            <a:pPr algn="just"/>
            <a:r>
              <a:rPr lang="en-US" sz="1800" dirty="0">
                <a:solidFill>
                  <a:srgbClr val="C00000"/>
                </a:solidFill>
                <a:latin typeface="Times New Roman"/>
                <a:cs typeface="Times New Roman"/>
              </a:rPr>
              <a:t>Review the bottom-performing pizzas (like "The Brie Carre Pizza") and their associated ingredient costs to determine if they should be removed from the menu to reduce complexity, lower ingredient waste, and free up kitchen focus for high-demand items</a:t>
            </a:r>
          </a:p>
        </p:txBody>
      </p:sp>
      <p:pic>
        <p:nvPicPr>
          <p:cNvPr id="4" name="Picture 3" descr="A cartoon of a child holding a clipboard and a paper&#10;&#10;AI-generated content may be incorrect.">
            <a:extLst>
              <a:ext uri="{FF2B5EF4-FFF2-40B4-BE49-F238E27FC236}">
                <a16:creationId xmlns:a16="http://schemas.microsoft.com/office/drawing/2014/main" id="{DF6091AB-3680-2258-F630-B31A038C8C36}"/>
              </a:ext>
            </a:extLst>
          </p:cNvPr>
          <p:cNvPicPr>
            <a:picLocks noChangeAspect="1"/>
          </p:cNvPicPr>
          <p:nvPr/>
        </p:nvPicPr>
        <p:blipFill>
          <a:blip r:embed="rId2"/>
          <a:srcRect l="2135" t="3743" r="9964"/>
          <a:stretch>
            <a:fillRect/>
          </a:stretch>
        </p:blipFill>
        <p:spPr>
          <a:xfrm>
            <a:off x="9069200" y="2190751"/>
            <a:ext cx="2592007" cy="235323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019547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7B3105-14E0-1635-483B-AA0F435A88BD}"/>
              </a:ext>
            </a:extLst>
          </p:cNvPr>
          <p:cNvSpPr>
            <a:spLocks noGrp="1"/>
          </p:cNvSpPr>
          <p:nvPr>
            <p:ph idx="1"/>
          </p:nvPr>
        </p:nvSpPr>
        <p:spPr>
          <a:xfrm>
            <a:off x="521208" y="1715756"/>
            <a:ext cx="10315239" cy="3722504"/>
          </a:xfrm>
        </p:spPr>
        <p:txBody>
          <a:bodyPr vert="horz" lIns="91440" tIns="45720" rIns="91440" bIns="45720" rtlCol="0" anchor="t">
            <a:normAutofit/>
          </a:bodyPr>
          <a:lstStyle/>
          <a:p>
            <a:pPr algn="just">
              <a:buNone/>
            </a:pPr>
            <a:r>
              <a:rPr lang="en-US" sz="1400" dirty="0">
                <a:latin typeface="Times New Roman"/>
                <a:cs typeface="Times New Roman"/>
              </a:rPr>
              <a:t>   </a:t>
            </a:r>
            <a:endParaRPr lang="en-US" sz="2000" dirty="0">
              <a:latin typeface="Times New Roman"/>
              <a:cs typeface="Times New Roman"/>
            </a:endParaRPr>
          </a:p>
        </p:txBody>
      </p:sp>
      <p:pic>
        <p:nvPicPr>
          <p:cNvPr id="6" name="Picture 5">
            <a:extLst>
              <a:ext uri="{FF2B5EF4-FFF2-40B4-BE49-F238E27FC236}">
                <a16:creationId xmlns:a16="http://schemas.microsoft.com/office/drawing/2014/main" id="{43A4D399-7A89-CF8B-1452-7096A0C735E1}"/>
              </a:ext>
            </a:extLst>
          </p:cNvPr>
          <p:cNvPicPr>
            <a:picLocks noChangeAspect="1"/>
          </p:cNvPicPr>
          <p:nvPr/>
        </p:nvPicPr>
        <p:blipFill>
          <a:blip r:embed="rId2"/>
          <a:stretch>
            <a:fillRect/>
          </a:stretch>
        </p:blipFill>
        <p:spPr>
          <a:xfrm>
            <a:off x="2241" y="562"/>
            <a:ext cx="12198722" cy="6856876"/>
          </a:xfrm>
          <a:prstGeom prst="rect">
            <a:avLst/>
          </a:prstGeom>
        </p:spPr>
      </p:pic>
      <p:sp>
        <p:nvSpPr>
          <p:cNvPr id="8" name="TextBox 7">
            <a:extLst>
              <a:ext uri="{FF2B5EF4-FFF2-40B4-BE49-F238E27FC236}">
                <a16:creationId xmlns:a16="http://schemas.microsoft.com/office/drawing/2014/main" id="{6EC2BF5E-E3CC-CD45-F87B-940ADEFCA88D}"/>
              </a:ext>
            </a:extLst>
          </p:cNvPr>
          <p:cNvSpPr txBox="1"/>
          <p:nvPr/>
        </p:nvSpPr>
        <p:spPr>
          <a:xfrm>
            <a:off x="1626372" y="1102081"/>
            <a:ext cx="47400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accent3">
                    <a:lumMod val="49000"/>
                  </a:schemeClr>
                </a:solidFill>
              </a:rPr>
              <a:t>         </a:t>
            </a:r>
            <a:r>
              <a:rPr lang="en-US" sz="3200" dirty="0">
                <a:latin typeface="Comic Sans MS"/>
              </a:rPr>
              <a:t>CONCLUSION</a:t>
            </a:r>
          </a:p>
        </p:txBody>
      </p:sp>
      <p:sp>
        <p:nvSpPr>
          <p:cNvPr id="10" name="TextBox 9">
            <a:extLst>
              <a:ext uri="{FF2B5EF4-FFF2-40B4-BE49-F238E27FC236}">
                <a16:creationId xmlns:a16="http://schemas.microsoft.com/office/drawing/2014/main" id="{57DA6255-7E25-CABE-053B-DEC447C9995F}"/>
              </a:ext>
            </a:extLst>
          </p:cNvPr>
          <p:cNvSpPr txBox="1"/>
          <p:nvPr/>
        </p:nvSpPr>
        <p:spPr>
          <a:xfrm>
            <a:off x="1722671" y="2097165"/>
            <a:ext cx="7792215"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latin typeface="Times New Roman"/>
                <a:cs typeface="Times New Roman"/>
              </a:rPr>
              <a:t>The comprehensive SQL analysis successfully provided a data-driven blueprint for enhancing Pizza Hut's performance. The study revealed a clear dual strategy prioritizing Classic pizzas to meet high volume demand and aggressively promoting Chicken pizzas to capitalize on their high revenue contribution.</a:t>
            </a:r>
            <a:endParaRPr lang="en-US" dirty="0"/>
          </a:p>
          <a:p>
            <a:pPr algn="just"/>
            <a:r>
              <a:rPr lang="en-US" sz="2000" dirty="0">
                <a:latin typeface="Times New Roman"/>
                <a:cs typeface="Times New Roman"/>
              </a:rPr>
              <a:t> By focusing on menu optimization such as introducing premium variants in the underperforming Veggie segment and by aligning staffing with the lunch and dinner peak hours, Pizza Hut can tangibly increase profits and improve customer satisfaction. This project </a:t>
            </a:r>
            <a:r>
              <a:rPr lang="en-US" sz="2000" dirty="0" err="1">
                <a:latin typeface="Times New Roman"/>
                <a:cs typeface="Times New Roman"/>
              </a:rPr>
              <a:t>under scores</a:t>
            </a:r>
            <a:r>
              <a:rPr lang="en-US" sz="2000" dirty="0">
                <a:latin typeface="Times New Roman"/>
                <a:cs typeface="Times New Roman"/>
              </a:rPr>
              <a:t> the direct, real-world value of data analytics in formulating effective business decisions.</a:t>
            </a:r>
            <a:endParaRPr lang="en-US"/>
          </a:p>
          <a:p>
            <a:pPr algn="l"/>
            <a:endParaRPr lang="en-US" dirty="0"/>
          </a:p>
        </p:txBody>
      </p:sp>
      <p:pic>
        <p:nvPicPr>
          <p:cNvPr id="11" name="Picture 10" descr="A slice of pizza on a plate&#10;&#10;AI-generated content may be incorrect.">
            <a:extLst>
              <a:ext uri="{FF2B5EF4-FFF2-40B4-BE49-F238E27FC236}">
                <a16:creationId xmlns:a16="http://schemas.microsoft.com/office/drawing/2014/main" id="{4C48390C-7728-8AC4-2AE9-9CFD988A1470}"/>
              </a:ext>
            </a:extLst>
          </p:cNvPr>
          <p:cNvPicPr>
            <a:picLocks noChangeAspect="1"/>
          </p:cNvPicPr>
          <p:nvPr/>
        </p:nvPicPr>
        <p:blipFill>
          <a:blip r:embed="rId3"/>
          <a:srcRect l="8845" t="7415" r="18058" b="20410"/>
          <a:stretch>
            <a:fillRect/>
          </a:stretch>
        </p:blipFill>
        <p:spPr>
          <a:xfrm rot="19920000">
            <a:off x="571011" y="416146"/>
            <a:ext cx="982944" cy="962456"/>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12" name="Picture 11" descr="A pizza with a slice missing&#10;&#10;AI-generated content may be incorrect.">
            <a:extLst>
              <a:ext uri="{FF2B5EF4-FFF2-40B4-BE49-F238E27FC236}">
                <a16:creationId xmlns:a16="http://schemas.microsoft.com/office/drawing/2014/main" id="{8F217804-F7D2-FA0C-0C63-1DC023C4500E}"/>
              </a:ext>
            </a:extLst>
          </p:cNvPr>
          <p:cNvPicPr>
            <a:picLocks noChangeAspect="1"/>
          </p:cNvPicPr>
          <p:nvPr/>
        </p:nvPicPr>
        <p:blipFill>
          <a:blip r:embed="rId4"/>
          <a:srcRect l="11837" t="7513" r="8571" b="11020"/>
          <a:stretch>
            <a:fillRect/>
          </a:stretch>
        </p:blipFill>
        <p:spPr>
          <a:xfrm>
            <a:off x="10439401" y="5127812"/>
            <a:ext cx="1085190" cy="1069385"/>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390167898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Organic</vt:lpstr>
      <vt:lpstr>PIZZA HUT SALES ANALYSIS</vt:lpstr>
      <vt:lpstr>CONTEXT</vt:lpstr>
      <vt:lpstr>About Pizza Hut</vt:lpstr>
      <vt:lpstr>PowerPoint Presentation</vt:lpstr>
      <vt:lpstr>PowerPoint Presentation</vt:lpstr>
      <vt:lpstr>BASIC ANALYSIS</vt:lpstr>
      <vt:lpstr>PowerPoint Presentation</vt:lpstr>
      <vt:lpstr>PowerPoint Presentation</vt:lpstr>
      <vt:lpstr>INTERMEDIATE ANALYSIS</vt:lpstr>
      <vt:lpstr>PowerPoint Presentation</vt:lpstr>
      <vt:lpstr>Top Pizza Types by Revenue</vt:lpstr>
      <vt:lpstr>PowerPoint Presentation</vt:lpstr>
      <vt:lpstr>ADVANCED ANALYSIS</vt:lpstr>
      <vt:lpstr>PowerPoint Presentation</vt:lpstr>
      <vt:lpstr>PowerPoint Presentation</vt:lpstr>
      <vt:lpstr>PowerPoint Presentation</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623</cp:revision>
  <dcterms:created xsi:type="dcterms:W3CDTF">2025-10-07T16:39:28Z</dcterms:created>
  <dcterms:modified xsi:type="dcterms:W3CDTF">2025-12-01T16:25:32Z</dcterms:modified>
</cp:coreProperties>
</file>